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attanakarn" charset="1" panose="00000000000000000000"/>
      <p:regular r:id="rId29"/>
    </p:embeddedFont>
    <p:embeddedFont>
      <p:font typeface="Cy Grotesk Key" charset="1" panose="00000500000000000000"/>
      <p:regular r:id="rId30"/>
    </p:embeddedFont>
    <p:embeddedFont>
      <p:font typeface="Cy Grotesk Key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62830" y="7399123"/>
            <a:ext cx="18701319" cy="4258146"/>
          </a:xfrm>
          <a:custGeom>
            <a:avLst/>
            <a:gdLst/>
            <a:ahLst/>
            <a:cxnLst/>
            <a:rect r="r" b="b" t="t" l="l"/>
            <a:pathLst>
              <a:path h="4258146" w="18701319">
                <a:moveTo>
                  <a:pt x="0" y="0"/>
                </a:moveTo>
                <a:lnTo>
                  <a:pt x="18701319" y="0"/>
                </a:lnTo>
                <a:lnTo>
                  <a:pt x="18701319" y="4258147"/>
                </a:lnTo>
                <a:lnTo>
                  <a:pt x="0" y="4258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25756">
            <a:off x="11452918" y="7564254"/>
            <a:ext cx="8020168" cy="4763181"/>
          </a:xfrm>
          <a:custGeom>
            <a:avLst/>
            <a:gdLst/>
            <a:ahLst/>
            <a:cxnLst/>
            <a:rect r="r" b="b" t="t" l="l"/>
            <a:pathLst>
              <a:path h="4763181" w="8020168">
                <a:moveTo>
                  <a:pt x="0" y="0"/>
                </a:moveTo>
                <a:lnTo>
                  <a:pt x="8020168" y="0"/>
                </a:lnTo>
                <a:lnTo>
                  <a:pt x="8020168" y="4763182"/>
                </a:lnTo>
                <a:lnTo>
                  <a:pt x="0" y="4763182"/>
                </a:lnTo>
                <a:lnTo>
                  <a:pt x="0" y="0"/>
                </a:lnTo>
                <a:close/>
              </a:path>
            </a:pathLst>
          </a:custGeom>
          <a:blipFill>
            <a:blip r:embed="rId4">
              <a:alphaModFix amt="2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485548" y="-1280538"/>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55213">
            <a:off x="11356844" y="2234709"/>
            <a:ext cx="7075643" cy="5817581"/>
          </a:xfrm>
          <a:custGeom>
            <a:avLst/>
            <a:gdLst/>
            <a:ahLst/>
            <a:cxnLst/>
            <a:rect r="r" b="b" t="t" l="l"/>
            <a:pathLst>
              <a:path h="5817581" w="7075643">
                <a:moveTo>
                  <a:pt x="0" y="0"/>
                </a:moveTo>
                <a:lnTo>
                  <a:pt x="7075643" y="0"/>
                </a:lnTo>
                <a:lnTo>
                  <a:pt x="7075643" y="5817582"/>
                </a:lnTo>
                <a:lnTo>
                  <a:pt x="0" y="58175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650550" y="-271450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alphaModFix amt="2600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4259592"/>
            <a:ext cx="13355553" cy="4387204"/>
          </a:xfrm>
          <a:prstGeom prst="rect">
            <a:avLst/>
          </a:prstGeom>
        </p:spPr>
        <p:txBody>
          <a:bodyPr anchor="t" rtlCol="false" tIns="0" lIns="0" bIns="0" rIns="0">
            <a:spAutoFit/>
          </a:bodyPr>
          <a:lstStyle/>
          <a:p>
            <a:pPr algn="l">
              <a:lnSpc>
                <a:spcPts val="9119"/>
              </a:lnSpc>
            </a:pPr>
            <a:r>
              <a:rPr lang="en-US" sz="9600">
                <a:solidFill>
                  <a:srgbClr val="FAF7F4"/>
                </a:solidFill>
                <a:latin typeface="Pattanakarn"/>
                <a:ea typeface="Pattanakarn"/>
                <a:cs typeface="Pattanakarn"/>
                <a:sym typeface="Pattanakarn"/>
              </a:rPr>
              <a:t>Practical AI CA1</a:t>
            </a:r>
          </a:p>
          <a:p>
            <a:pPr algn="l">
              <a:lnSpc>
                <a:spcPts val="3040"/>
              </a:lnSpc>
            </a:pPr>
          </a:p>
          <a:p>
            <a:pPr algn="l">
              <a:lnSpc>
                <a:spcPts val="2279"/>
              </a:lnSpc>
            </a:pPr>
            <a:r>
              <a:rPr lang="en-US" sz="2400">
                <a:solidFill>
                  <a:srgbClr val="FAF7F4"/>
                </a:solidFill>
                <a:latin typeface="Pattanakarn"/>
                <a:ea typeface="Pattanakarn"/>
                <a:cs typeface="Pattanakarn"/>
                <a:sym typeface="Pattanakarn"/>
              </a:rPr>
              <a:t>Made by: Goh Jenson, Goh Kun Ming, Law Wei Tin, Liu Xingyu</a:t>
            </a:r>
          </a:p>
          <a:p>
            <a:pPr algn="l">
              <a:lnSpc>
                <a:spcPts val="3040"/>
              </a:lnSpc>
            </a:pPr>
          </a:p>
          <a:p>
            <a:pPr algn="l">
              <a:lnSpc>
                <a:spcPts val="15731"/>
              </a:lnSpc>
            </a:pPr>
          </a:p>
        </p:txBody>
      </p:sp>
      <p:sp>
        <p:nvSpPr>
          <p:cNvPr name="Freeform 8" id="8"/>
          <p:cNvSpPr/>
          <p:nvPr/>
        </p:nvSpPr>
        <p:spPr>
          <a:xfrm flipH="false" flipV="false" rot="733758">
            <a:off x="9535863" y="143137"/>
            <a:ext cx="3899198" cy="4117596"/>
          </a:xfrm>
          <a:custGeom>
            <a:avLst/>
            <a:gdLst/>
            <a:ahLst/>
            <a:cxnLst/>
            <a:rect r="r" b="b" t="t" l="l"/>
            <a:pathLst>
              <a:path h="4117596" w="3899198">
                <a:moveTo>
                  <a:pt x="0" y="0"/>
                </a:moveTo>
                <a:lnTo>
                  <a:pt x="3899198" y="0"/>
                </a:lnTo>
                <a:lnTo>
                  <a:pt x="3899198" y="4117595"/>
                </a:lnTo>
                <a:lnTo>
                  <a:pt x="0" y="41175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p:nvPr/>
        </p:nvGrpSpPr>
        <p:grpSpPr>
          <a:xfrm rot="0">
            <a:off x="1083132" y="8796686"/>
            <a:ext cx="4626554" cy="605707"/>
            <a:chOff x="0" y="0"/>
            <a:chExt cx="1218516" cy="159528"/>
          </a:xfrm>
        </p:grpSpPr>
        <p:sp>
          <p:nvSpPr>
            <p:cNvPr name="Freeform 10" id="10"/>
            <p:cNvSpPr/>
            <p:nvPr/>
          </p:nvSpPr>
          <p:spPr>
            <a:xfrm flipH="false" flipV="false" rot="0">
              <a:off x="0" y="0"/>
              <a:ext cx="1218516" cy="159528"/>
            </a:xfrm>
            <a:custGeom>
              <a:avLst/>
              <a:gdLst/>
              <a:ahLst/>
              <a:cxnLst/>
              <a:rect r="r" b="b" t="t" l="l"/>
              <a:pathLst>
                <a:path h="159528" w="1218516">
                  <a:moveTo>
                    <a:pt x="79764" y="0"/>
                  </a:moveTo>
                  <a:lnTo>
                    <a:pt x="1138752" y="0"/>
                  </a:lnTo>
                  <a:cubicBezTo>
                    <a:pt x="1182805" y="0"/>
                    <a:pt x="1218516" y="35712"/>
                    <a:pt x="1218516" y="79764"/>
                  </a:cubicBezTo>
                  <a:lnTo>
                    <a:pt x="1218516" y="79764"/>
                  </a:lnTo>
                  <a:cubicBezTo>
                    <a:pt x="1218516" y="123816"/>
                    <a:pt x="1182805" y="159528"/>
                    <a:pt x="1138752" y="159528"/>
                  </a:cubicBezTo>
                  <a:lnTo>
                    <a:pt x="79764" y="159528"/>
                  </a:lnTo>
                  <a:cubicBezTo>
                    <a:pt x="35712" y="159528"/>
                    <a:pt x="0" y="123816"/>
                    <a:pt x="0" y="79764"/>
                  </a:cubicBezTo>
                  <a:lnTo>
                    <a:pt x="0" y="79764"/>
                  </a:lnTo>
                  <a:cubicBezTo>
                    <a:pt x="0" y="35712"/>
                    <a:pt x="35712" y="0"/>
                    <a:pt x="79764" y="0"/>
                  </a:cubicBezTo>
                  <a:close/>
                </a:path>
              </a:pathLst>
            </a:custGeom>
            <a:solidFill>
              <a:srgbClr val="000000">
                <a:alpha val="0"/>
              </a:srgbClr>
            </a:solidFill>
            <a:ln w="19050" cap="rnd">
              <a:solidFill>
                <a:srgbClr val="FFFFFF"/>
              </a:solidFill>
              <a:prstDash val="solid"/>
              <a:round/>
            </a:ln>
          </p:spPr>
        </p:sp>
        <p:sp>
          <p:nvSpPr>
            <p:cNvPr name="TextBox 11" id="11"/>
            <p:cNvSpPr txBox="true"/>
            <p:nvPr/>
          </p:nvSpPr>
          <p:spPr>
            <a:xfrm>
              <a:off x="0" y="28575"/>
              <a:ext cx="1218516" cy="130953"/>
            </a:xfrm>
            <a:prstGeom prst="rect">
              <a:avLst/>
            </a:prstGeom>
          </p:spPr>
          <p:txBody>
            <a:bodyPr anchor="ctr" rtlCol="false" tIns="50800" lIns="50800" bIns="50800" rIns="50800"/>
            <a:lstStyle/>
            <a:p>
              <a:pPr algn="ctr">
                <a:lnSpc>
                  <a:spcPts val="2011"/>
                </a:lnSpc>
              </a:pPr>
            </a:p>
          </p:txBody>
        </p:sp>
      </p:grpSp>
      <p:sp>
        <p:nvSpPr>
          <p:cNvPr name="TextBox 12" id="12"/>
          <p:cNvSpPr txBox="true"/>
          <p:nvPr/>
        </p:nvSpPr>
        <p:spPr>
          <a:xfrm rot="0">
            <a:off x="1316197" y="1522693"/>
            <a:ext cx="3301277" cy="406400"/>
          </a:xfrm>
          <a:prstGeom prst="rect">
            <a:avLst/>
          </a:prstGeom>
        </p:spPr>
        <p:txBody>
          <a:bodyPr anchor="t" rtlCol="false" tIns="0" lIns="0" bIns="0" rIns="0">
            <a:spAutoFit/>
          </a:bodyPr>
          <a:lstStyle/>
          <a:p>
            <a:pPr algn="l">
              <a:lnSpc>
                <a:spcPts val="3040"/>
              </a:lnSpc>
            </a:pPr>
            <a:r>
              <a:rPr lang="en-US" sz="3200">
                <a:solidFill>
                  <a:srgbClr val="FAF7F4"/>
                </a:solidFill>
                <a:latin typeface="Cy Grotesk Key"/>
                <a:ea typeface="Cy Grotesk Key"/>
                <a:cs typeface="Cy Grotesk Key"/>
                <a:sym typeface="Cy Grotesk Key"/>
              </a:rPr>
              <a:t>Presented By </a:t>
            </a:r>
          </a:p>
        </p:txBody>
      </p:sp>
      <p:sp>
        <p:nvSpPr>
          <p:cNvPr name="TextBox 13" id="13"/>
          <p:cNvSpPr txBox="true"/>
          <p:nvPr/>
        </p:nvSpPr>
        <p:spPr>
          <a:xfrm rot="0">
            <a:off x="1316197" y="1894912"/>
            <a:ext cx="3702113" cy="547370"/>
          </a:xfrm>
          <a:prstGeom prst="rect">
            <a:avLst/>
          </a:prstGeom>
        </p:spPr>
        <p:txBody>
          <a:bodyPr anchor="t" rtlCol="false" tIns="0" lIns="0" bIns="0" rIns="0">
            <a:spAutoFit/>
          </a:bodyPr>
          <a:lstStyle/>
          <a:p>
            <a:pPr algn="l">
              <a:lnSpc>
                <a:spcPts val="4479"/>
              </a:lnSpc>
              <a:spcBef>
                <a:spcPct val="0"/>
              </a:spcBef>
            </a:pPr>
            <a:r>
              <a:rPr lang="en-US" sz="3199">
                <a:solidFill>
                  <a:srgbClr val="44A5FF"/>
                </a:solidFill>
                <a:latin typeface="Cy Grotesk Key"/>
                <a:ea typeface="Cy Grotesk Key"/>
                <a:cs typeface="Cy Grotesk Key"/>
                <a:sym typeface="Cy Grotesk Key"/>
              </a:rPr>
              <a:t>Group 1</a:t>
            </a:r>
          </a:p>
        </p:txBody>
      </p:sp>
      <p:sp>
        <p:nvSpPr>
          <p:cNvPr name="TextBox 14" id="14"/>
          <p:cNvSpPr txBox="true"/>
          <p:nvPr/>
        </p:nvSpPr>
        <p:spPr>
          <a:xfrm rot="0">
            <a:off x="1638775" y="8988405"/>
            <a:ext cx="3515269" cy="267238"/>
          </a:xfrm>
          <a:prstGeom prst="rect">
            <a:avLst/>
          </a:prstGeom>
        </p:spPr>
        <p:txBody>
          <a:bodyPr anchor="t" rtlCol="false" tIns="0" lIns="0" bIns="0" rIns="0">
            <a:spAutoFit/>
          </a:bodyPr>
          <a:lstStyle/>
          <a:p>
            <a:pPr algn="ctr">
              <a:lnSpc>
                <a:spcPts val="2011"/>
              </a:lnSpc>
            </a:pPr>
            <a:r>
              <a:rPr lang="en-US" sz="2116">
                <a:solidFill>
                  <a:srgbClr val="FAF7F4"/>
                </a:solidFill>
                <a:latin typeface="Cy Grotesk Key"/>
                <a:ea typeface="Cy Grotesk Key"/>
                <a:cs typeface="Cy Grotesk Key"/>
                <a:sym typeface="Cy Grotesk Key"/>
              </a:rPr>
              <a:t>Singapore Polytechnic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0485548" y="-862788"/>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20351" y="7200900"/>
            <a:ext cx="6928434" cy="4114800"/>
          </a:xfrm>
          <a:custGeom>
            <a:avLst/>
            <a:gdLst/>
            <a:ahLst/>
            <a:cxnLst/>
            <a:rect r="r" b="b" t="t" l="l"/>
            <a:pathLst>
              <a:path h="4114800" w="6928434">
                <a:moveTo>
                  <a:pt x="0" y="0"/>
                </a:moveTo>
                <a:lnTo>
                  <a:pt x="6928433" y="0"/>
                </a:lnTo>
                <a:lnTo>
                  <a:pt x="6928433" y="4114800"/>
                </a:lnTo>
                <a:lnTo>
                  <a:pt x="0" y="4114800"/>
                </a:lnTo>
                <a:lnTo>
                  <a:pt x="0" y="0"/>
                </a:lnTo>
                <a:close/>
              </a:path>
            </a:pathLst>
          </a:custGeom>
          <a:blipFill>
            <a:blip r:embed="rId6">
              <a:alphaModFix amt="55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20351" y="1964765"/>
            <a:ext cx="6464333" cy="6826407"/>
          </a:xfrm>
          <a:custGeom>
            <a:avLst/>
            <a:gdLst/>
            <a:ahLst/>
            <a:cxnLst/>
            <a:rect r="r" b="b" t="t" l="l"/>
            <a:pathLst>
              <a:path h="6826407" w="6464333">
                <a:moveTo>
                  <a:pt x="0" y="0"/>
                </a:moveTo>
                <a:lnTo>
                  <a:pt x="6464333" y="0"/>
                </a:lnTo>
                <a:lnTo>
                  <a:pt x="6464333" y="6826406"/>
                </a:lnTo>
                <a:lnTo>
                  <a:pt x="0" y="6826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715492" y="-4088603"/>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72044" y="1581260"/>
            <a:ext cx="12097505" cy="1362058"/>
          </a:xfrm>
          <a:prstGeom prst="rect">
            <a:avLst/>
          </a:prstGeom>
        </p:spPr>
        <p:txBody>
          <a:bodyPr anchor="t" rtlCol="false" tIns="0" lIns="0" bIns="0" rIns="0">
            <a:spAutoFit/>
          </a:bodyPr>
          <a:lstStyle/>
          <a:p>
            <a:pPr algn="l">
              <a:lnSpc>
                <a:spcPts val="10788"/>
              </a:lnSpc>
            </a:pPr>
            <a:r>
              <a:rPr lang="en-US" sz="8990">
                <a:solidFill>
                  <a:srgbClr val="FFFFFF"/>
                </a:solidFill>
                <a:latin typeface="Pattanakarn"/>
                <a:ea typeface="Pattanakarn"/>
                <a:cs typeface="Pattanakarn"/>
                <a:sym typeface="Pattanakarn"/>
              </a:rPr>
              <a:t>Project Objectives</a:t>
            </a:r>
          </a:p>
        </p:txBody>
      </p:sp>
      <p:sp>
        <p:nvSpPr>
          <p:cNvPr name="TextBox 8" id="8"/>
          <p:cNvSpPr txBox="true"/>
          <p:nvPr/>
        </p:nvSpPr>
        <p:spPr>
          <a:xfrm rot="0">
            <a:off x="872044" y="3561930"/>
            <a:ext cx="8946079" cy="3115515"/>
          </a:xfrm>
          <a:prstGeom prst="rect">
            <a:avLst/>
          </a:prstGeom>
        </p:spPr>
        <p:txBody>
          <a:bodyPr anchor="t" rtlCol="false" tIns="0" lIns="0" bIns="0" rIns="0">
            <a:spAutoFit/>
          </a:bodyPr>
          <a:lstStyle/>
          <a:p>
            <a:pPr algn="l" marL="478636" indent="-239318" lvl="1">
              <a:lnSpc>
                <a:spcPts val="3103"/>
              </a:lnSpc>
              <a:buFont typeface="Arial"/>
              <a:buChar char="•"/>
            </a:pPr>
            <a:r>
              <a:rPr lang="en-US" sz="2216">
                <a:solidFill>
                  <a:srgbClr val="FFFFFF"/>
                </a:solidFill>
                <a:latin typeface="Cy Grotesk Key"/>
                <a:ea typeface="Cy Grotesk Key"/>
                <a:cs typeface="Cy Grotesk Key"/>
                <a:sym typeface="Cy Grotesk Key"/>
              </a:rPr>
              <a:t>Set up MySQL databases for staging &amp; warehouse</a:t>
            </a:r>
          </a:p>
          <a:p>
            <a:pPr algn="l" marL="478636" indent="-239318" lvl="1">
              <a:lnSpc>
                <a:spcPts val="3103"/>
              </a:lnSpc>
              <a:buFont typeface="Arial"/>
              <a:buChar char="•"/>
            </a:pPr>
            <a:r>
              <a:rPr lang="en-US" sz="2216">
                <a:solidFill>
                  <a:srgbClr val="FFFFFF"/>
                </a:solidFill>
                <a:latin typeface="Cy Grotesk Key"/>
                <a:ea typeface="Cy Grotesk Key"/>
                <a:cs typeface="Cy Grotesk Key"/>
                <a:sym typeface="Cy Grotesk Key"/>
              </a:rPr>
              <a:t>Build reliable ETL between MySQL and Python/Spark for drivers, sensors and safety data</a:t>
            </a:r>
          </a:p>
          <a:p>
            <a:pPr algn="l" marL="478636" indent="-239318" lvl="1">
              <a:lnSpc>
                <a:spcPts val="3103"/>
              </a:lnSpc>
              <a:buFont typeface="Arial"/>
              <a:buChar char="•"/>
            </a:pPr>
            <a:r>
              <a:rPr lang="en-US" sz="2216">
                <a:solidFill>
                  <a:srgbClr val="FFFFFF"/>
                </a:solidFill>
                <a:latin typeface="Cy Grotesk Key"/>
                <a:ea typeface="Cy Grotesk Key"/>
                <a:cs typeface="Cy Grotesk Key"/>
                <a:sym typeface="Cy Grotesk Key"/>
              </a:rPr>
              <a:t>Perform data wrangling &amp; EDA to understand dangerous vs safe trips</a:t>
            </a:r>
          </a:p>
          <a:p>
            <a:pPr algn="l" marL="478636" indent="-239318" lvl="1">
              <a:lnSpc>
                <a:spcPts val="3103"/>
              </a:lnSpc>
              <a:buFont typeface="Arial"/>
              <a:buChar char="•"/>
            </a:pPr>
            <a:r>
              <a:rPr lang="en-US" sz="2216">
                <a:solidFill>
                  <a:srgbClr val="FFFFFF"/>
                </a:solidFill>
                <a:latin typeface="Cy Grotesk Key"/>
                <a:ea typeface="Cy Grotesk Key"/>
                <a:cs typeface="Cy Grotesk Key"/>
                <a:sym typeface="Cy Grotesk Key"/>
              </a:rPr>
              <a:t>Build interactive dashboards for driver profile, trips &amp; sensor behaviour for business decision makers</a:t>
            </a:r>
          </a:p>
          <a:p>
            <a:pPr algn="l">
              <a:lnSpc>
                <a:spcPts val="3103"/>
              </a:lnSpc>
              <a:spcBef>
                <a:spcPct val="0"/>
              </a:spcBef>
            </a:pPr>
          </a:p>
        </p:txBody>
      </p:sp>
      <p:sp>
        <p:nvSpPr>
          <p:cNvPr name="Freeform 9" id="9"/>
          <p:cNvSpPr/>
          <p:nvPr/>
        </p:nvSpPr>
        <p:spPr>
          <a:xfrm flipH="false" flipV="false" rot="-2700000">
            <a:off x="-3532589" y="-824990"/>
            <a:ext cx="10204385" cy="6060389"/>
          </a:xfrm>
          <a:custGeom>
            <a:avLst/>
            <a:gdLst/>
            <a:ahLst/>
            <a:cxnLst/>
            <a:rect r="r" b="b" t="t" l="l"/>
            <a:pathLst>
              <a:path h="6060389" w="10204385">
                <a:moveTo>
                  <a:pt x="0" y="0"/>
                </a:moveTo>
                <a:lnTo>
                  <a:pt x="10204385" y="0"/>
                </a:lnTo>
                <a:lnTo>
                  <a:pt x="10204385" y="6060389"/>
                </a:lnTo>
                <a:lnTo>
                  <a:pt x="0" y="6060389"/>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675890" y="8229600"/>
            <a:ext cx="6928434" cy="4114800"/>
          </a:xfrm>
          <a:custGeom>
            <a:avLst/>
            <a:gdLst/>
            <a:ahLst/>
            <a:cxnLst/>
            <a:rect r="r" b="b" t="t" l="l"/>
            <a:pathLst>
              <a:path h="4114800" w="6928434">
                <a:moveTo>
                  <a:pt x="0" y="0"/>
                </a:moveTo>
                <a:lnTo>
                  <a:pt x="6928434" y="0"/>
                </a:lnTo>
                <a:lnTo>
                  <a:pt x="6928434" y="4114800"/>
                </a:lnTo>
                <a:lnTo>
                  <a:pt x="0" y="4114800"/>
                </a:lnTo>
                <a:lnTo>
                  <a:pt x="0" y="0"/>
                </a:lnTo>
                <a:close/>
              </a:path>
            </a:pathLst>
          </a:custGeom>
          <a:blipFill>
            <a:blip r:embed="rId6">
              <a:alphaModFix amt="5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627599" y="5884703"/>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661078" y="60893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8654035" y="1756595"/>
            <a:ext cx="9226180" cy="7501705"/>
          </a:xfrm>
          <a:custGeom>
            <a:avLst/>
            <a:gdLst/>
            <a:ahLst/>
            <a:cxnLst/>
            <a:rect r="r" b="b" t="t" l="l"/>
            <a:pathLst>
              <a:path h="7501705" w="9226180">
                <a:moveTo>
                  <a:pt x="0" y="0"/>
                </a:moveTo>
                <a:lnTo>
                  <a:pt x="9226180" y="0"/>
                </a:lnTo>
                <a:lnTo>
                  <a:pt x="9226180" y="7501705"/>
                </a:lnTo>
                <a:lnTo>
                  <a:pt x="0" y="7501705"/>
                </a:lnTo>
                <a:lnTo>
                  <a:pt x="0" y="0"/>
                </a:lnTo>
                <a:close/>
              </a:path>
            </a:pathLst>
          </a:custGeom>
          <a:blipFill>
            <a:blip r:embed="rId12"/>
            <a:stretch>
              <a:fillRect l="-21889" t="-28163" r="-21552" b="-24436"/>
            </a:stretch>
          </a:blipFill>
          <a:ln w="38100" cap="rnd">
            <a:solidFill>
              <a:srgbClr val="0067C7"/>
            </a:solidFill>
            <a:prstDash val="solid"/>
            <a:round/>
          </a:ln>
        </p:spPr>
      </p:sp>
      <p:sp>
        <p:nvSpPr>
          <p:cNvPr name="TextBox 10" id="10"/>
          <p:cNvSpPr txBox="true"/>
          <p:nvPr/>
        </p:nvSpPr>
        <p:spPr>
          <a:xfrm rot="0">
            <a:off x="3599617" y="632333"/>
            <a:ext cx="11080980" cy="821309"/>
          </a:xfrm>
          <a:prstGeom prst="rect">
            <a:avLst/>
          </a:prstGeom>
        </p:spPr>
        <p:txBody>
          <a:bodyPr anchor="t" rtlCol="false" tIns="0" lIns="0" bIns="0" rIns="0">
            <a:spAutoFit/>
          </a:bodyPr>
          <a:lstStyle/>
          <a:p>
            <a:pPr algn="ctr">
              <a:lnSpc>
                <a:spcPts val="6328"/>
              </a:lnSpc>
            </a:pPr>
            <a:r>
              <a:rPr lang="en-US" sz="5600">
                <a:solidFill>
                  <a:srgbClr val="FFFFFF"/>
                </a:solidFill>
                <a:latin typeface="Pattanakarn"/>
                <a:ea typeface="Pattanakarn"/>
                <a:cs typeface="Pattanakarn"/>
                <a:sym typeface="Pattanakarn"/>
              </a:rPr>
              <a:t>Data</a:t>
            </a:r>
            <a:r>
              <a:rPr lang="en-US" sz="5600">
                <a:solidFill>
                  <a:srgbClr val="FFFFFF"/>
                </a:solidFill>
                <a:latin typeface="Pattanakarn"/>
                <a:ea typeface="Pattanakarn"/>
                <a:cs typeface="Pattanakarn"/>
                <a:sym typeface="Pattanakarn"/>
              </a:rPr>
              <a:t> &amp; System Overview</a:t>
            </a:r>
          </a:p>
        </p:txBody>
      </p:sp>
      <p:sp>
        <p:nvSpPr>
          <p:cNvPr name="TextBox 11" id="11"/>
          <p:cNvSpPr txBox="true"/>
          <p:nvPr/>
        </p:nvSpPr>
        <p:spPr>
          <a:xfrm rot="0">
            <a:off x="741219" y="2811281"/>
            <a:ext cx="7912816" cy="4607288"/>
          </a:xfrm>
          <a:prstGeom prst="rect">
            <a:avLst/>
          </a:prstGeom>
        </p:spPr>
        <p:txBody>
          <a:bodyPr anchor="t" rtlCol="false" tIns="0" lIns="0" bIns="0" rIns="0">
            <a:spAutoFit/>
          </a:bodyPr>
          <a:lstStyle/>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Drivers dataset: driver profile, experience, rating, car brand, m</a:t>
            </a:r>
            <a:r>
              <a:rPr lang="en-US" sz="2360">
                <a:solidFill>
                  <a:srgbClr val="FFFFFF"/>
                </a:solidFill>
                <a:latin typeface="Cy Grotesk Key"/>
                <a:ea typeface="Cy Grotesk Key"/>
                <a:cs typeface="Cy Grotesk Key"/>
                <a:sym typeface="Cy Grotesk Key"/>
              </a:rPr>
              <a:t>odel year</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Sensors dataset: per-trip speed, acceleration (x, y, z), jerk, gyroscope, turning angles</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Safety dataset: trip IDs with labels (Safe / Dangerous)</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Staging DB (MySQL) &gt; Spark cleaning scripts &gt; Warehouse (Dim / Fact tables) for analytics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675890" y="8229600"/>
            <a:ext cx="6928434" cy="4114800"/>
          </a:xfrm>
          <a:custGeom>
            <a:avLst/>
            <a:gdLst/>
            <a:ahLst/>
            <a:cxnLst/>
            <a:rect r="r" b="b" t="t" l="l"/>
            <a:pathLst>
              <a:path h="4114800" w="6928434">
                <a:moveTo>
                  <a:pt x="0" y="0"/>
                </a:moveTo>
                <a:lnTo>
                  <a:pt x="6928434" y="0"/>
                </a:lnTo>
                <a:lnTo>
                  <a:pt x="6928434" y="4114800"/>
                </a:lnTo>
                <a:lnTo>
                  <a:pt x="0" y="4114800"/>
                </a:lnTo>
                <a:lnTo>
                  <a:pt x="0" y="0"/>
                </a:lnTo>
                <a:close/>
              </a:path>
            </a:pathLst>
          </a:custGeom>
          <a:blipFill>
            <a:blip r:embed="rId6">
              <a:alphaModFix amt="5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566692"/>
            <a:ext cx="18701319" cy="4258146"/>
          </a:xfrm>
          <a:custGeom>
            <a:avLst/>
            <a:gdLst/>
            <a:ahLst/>
            <a:cxnLst/>
            <a:rect r="r" b="b" t="t" l="l"/>
            <a:pathLst>
              <a:path h="4258146" w="18701319">
                <a:moveTo>
                  <a:pt x="0" y="0"/>
                </a:moveTo>
                <a:lnTo>
                  <a:pt x="18701319" y="0"/>
                </a:lnTo>
                <a:lnTo>
                  <a:pt x="18701319" y="4258147"/>
                </a:lnTo>
                <a:lnTo>
                  <a:pt x="0" y="4258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627599" y="5884703"/>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661078" y="60893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0728402" y="1468024"/>
            <a:ext cx="6146602" cy="8833358"/>
          </a:xfrm>
          <a:custGeom>
            <a:avLst/>
            <a:gdLst/>
            <a:ahLst/>
            <a:cxnLst/>
            <a:rect r="r" b="b" t="t" l="l"/>
            <a:pathLst>
              <a:path h="8833358" w="6146602">
                <a:moveTo>
                  <a:pt x="0" y="0"/>
                </a:moveTo>
                <a:lnTo>
                  <a:pt x="6146602" y="0"/>
                </a:lnTo>
                <a:lnTo>
                  <a:pt x="6146602" y="8833358"/>
                </a:lnTo>
                <a:lnTo>
                  <a:pt x="0" y="8833358"/>
                </a:lnTo>
                <a:lnTo>
                  <a:pt x="0" y="0"/>
                </a:lnTo>
                <a:close/>
              </a:path>
            </a:pathLst>
          </a:custGeom>
          <a:blipFill>
            <a:blip r:embed="rId12"/>
            <a:stretch>
              <a:fillRect l="-12103" t="-8422" r="-12220" b="-9679"/>
            </a:stretch>
          </a:blipFill>
        </p:spPr>
      </p:sp>
      <p:sp>
        <p:nvSpPr>
          <p:cNvPr name="TextBox 10" id="10"/>
          <p:cNvSpPr txBox="true"/>
          <p:nvPr/>
        </p:nvSpPr>
        <p:spPr>
          <a:xfrm rot="0">
            <a:off x="3599617" y="632333"/>
            <a:ext cx="11080980" cy="821309"/>
          </a:xfrm>
          <a:prstGeom prst="rect">
            <a:avLst/>
          </a:prstGeom>
        </p:spPr>
        <p:txBody>
          <a:bodyPr anchor="t" rtlCol="false" tIns="0" lIns="0" bIns="0" rIns="0">
            <a:spAutoFit/>
          </a:bodyPr>
          <a:lstStyle/>
          <a:p>
            <a:pPr algn="ctr">
              <a:lnSpc>
                <a:spcPts val="6328"/>
              </a:lnSpc>
            </a:pPr>
            <a:r>
              <a:rPr lang="en-US" sz="5600">
                <a:solidFill>
                  <a:srgbClr val="FFFFFF"/>
                </a:solidFill>
                <a:latin typeface="Pattanakarn"/>
                <a:ea typeface="Pattanakarn"/>
                <a:cs typeface="Pattanakarn"/>
                <a:sym typeface="Pattanakarn"/>
              </a:rPr>
              <a:t>Theoretical Data</a:t>
            </a:r>
            <a:r>
              <a:rPr lang="en-US" sz="5600">
                <a:solidFill>
                  <a:srgbClr val="FFFFFF"/>
                </a:solidFill>
                <a:latin typeface="Pattanakarn"/>
                <a:ea typeface="Pattanakarn"/>
                <a:cs typeface="Pattanakarn"/>
                <a:sym typeface="Pattanakarn"/>
              </a:rPr>
              <a:t> &amp; System</a:t>
            </a:r>
          </a:p>
        </p:txBody>
      </p:sp>
      <p:sp>
        <p:nvSpPr>
          <p:cNvPr name="TextBox 11" id="11"/>
          <p:cNvSpPr txBox="true"/>
          <p:nvPr/>
        </p:nvSpPr>
        <p:spPr>
          <a:xfrm rot="0">
            <a:off x="939445" y="2601731"/>
            <a:ext cx="8200662" cy="5026388"/>
          </a:xfrm>
          <a:prstGeom prst="rect">
            <a:avLst/>
          </a:prstGeom>
        </p:spPr>
        <p:txBody>
          <a:bodyPr anchor="t" rtlCol="false" tIns="0" lIns="0" bIns="0" rIns="0">
            <a:spAutoFit/>
          </a:bodyPr>
          <a:lstStyle/>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Event-driven automation ensur</a:t>
            </a:r>
            <a:r>
              <a:rPr lang="en-US" sz="2360">
                <a:solidFill>
                  <a:srgbClr val="FFFFFF"/>
                </a:solidFill>
                <a:latin typeface="Cy Grotesk Key"/>
                <a:ea typeface="Cy Grotesk Key"/>
                <a:cs typeface="Cy Grotesk Key"/>
                <a:sym typeface="Cy Grotesk Key"/>
              </a:rPr>
              <a:t>es ETL runs reliably with zero manual intervention.</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Auto-scaling compute tier handles workload spikes efficiently and reduces cost.</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Staging → Warehouse separation </a:t>
            </a:r>
            <a:r>
              <a:rPr lang="en-US" sz="2360">
                <a:solidFill>
                  <a:srgbClr val="FFFFFF"/>
                </a:solidFill>
                <a:latin typeface="Cy Grotesk Key"/>
                <a:ea typeface="Cy Grotesk Key"/>
                <a:cs typeface="Cy Grotesk Key"/>
                <a:sym typeface="Cy Grotesk Key"/>
              </a:rPr>
              <a:t>imp</a:t>
            </a:r>
            <a:r>
              <a:rPr lang="en-US" sz="2360">
                <a:solidFill>
                  <a:srgbClr val="FFFFFF"/>
                </a:solidFill>
                <a:latin typeface="Cy Grotesk Key"/>
                <a:ea typeface="Cy Grotesk Key"/>
                <a:cs typeface="Cy Grotesk Key"/>
                <a:sym typeface="Cy Grotesk Key"/>
              </a:rPr>
              <a:t>roves data quality, governance, and analytics readiness.</a:t>
            </a:r>
          </a:p>
          <a:p>
            <a:pPr algn="l">
              <a:lnSpc>
                <a:spcPts val="3305"/>
              </a:lnSpc>
            </a:pPr>
          </a:p>
          <a:p>
            <a:pPr algn="l" marL="509678" indent="-254839" lvl="1">
              <a:lnSpc>
                <a:spcPts val="3305"/>
              </a:lnSpc>
              <a:buFont typeface="Arial"/>
              <a:buChar char="•"/>
            </a:pPr>
            <a:r>
              <a:rPr lang="en-US" sz="2360">
                <a:solidFill>
                  <a:srgbClr val="FFFFFF"/>
                </a:solidFill>
                <a:latin typeface="Cy Grotesk Key"/>
                <a:ea typeface="Cy Grotesk Key"/>
                <a:cs typeface="Cy Grotesk Key"/>
                <a:sym typeface="Cy Grotesk Key"/>
              </a:rPr>
              <a:t>Strong security + monitoring via Secrets Manager, Parameter Store, and CloudWatch enhances system resilience.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627599" y="5884703"/>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8">
              <a:alphaModFix amt="43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661078" y="60893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8">
              <a:alphaModFix amt="43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5679783" y="7833401"/>
            <a:ext cx="6928434" cy="4114800"/>
          </a:xfrm>
          <a:custGeom>
            <a:avLst/>
            <a:gdLst/>
            <a:ahLst/>
            <a:cxnLst/>
            <a:rect r="r" b="b" t="t" l="l"/>
            <a:pathLst>
              <a:path h="4114800" w="6928434">
                <a:moveTo>
                  <a:pt x="0" y="0"/>
                </a:moveTo>
                <a:lnTo>
                  <a:pt x="6928434" y="0"/>
                </a:lnTo>
                <a:lnTo>
                  <a:pt x="6928434" y="4114800"/>
                </a:lnTo>
                <a:lnTo>
                  <a:pt x="0" y="4114800"/>
                </a:lnTo>
                <a:lnTo>
                  <a:pt x="0" y="0"/>
                </a:lnTo>
                <a:close/>
              </a:path>
            </a:pathLst>
          </a:custGeom>
          <a:blipFill>
            <a:blip r:embed="rId10">
              <a:alphaModFix amt="24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6452761" y="4479308"/>
            <a:ext cx="4717888" cy="5339820"/>
          </a:xfrm>
          <a:custGeom>
            <a:avLst/>
            <a:gdLst/>
            <a:ahLst/>
            <a:cxnLst/>
            <a:rect r="r" b="b" t="t" l="l"/>
            <a:pathLst>
              <a:path h="5339820" w="4717888">
                <a:moveTo>
                  <a:pt x="0" y="0"/>
                </a:moveTo>
                <a:lnTo>
                  <a:pt x="4717888" y="0"/>
                </a:lnTo>
                <a:lnTo>
                  <a:pt x="4717888" y="5339820"/>
                </a:lnTo>
                <a:lnTo>
                  <a:pt x="0" y="5339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3365944" y="1076325"/>
            <a:ext cx="11556113" cy="1797924"/>
          </a:xfrm>
          <a:prstGeom prst="rect">
            <a:avLst/>
          </a:prstGeom>
        </p:spPr>
        <p:txBody>
          <a:bodyPr anchor="t" rtlCol="false" tIns="0" lIns="0" bIns="0" rIns="0">
            <a:spAutoFit/>
          </a:bodyPr>
          <a:lstStyle/>
          <a:p>
            <a:pPr algn="ctr">
              <a:lnSpc>
                <a:spcPts val="14159"/>
              </a:lnSpc>
            </a:pPr>
            <a:r>
              <a:rPr lang="en-US" sz="12206">
                <a:solidFill>
                  <a:srgbClr val="FFFFFF"/>
                </a:solidFill>
                <a:latin typeface="Pattanakarn"/>
                <a:ea typeface="Pattanakarn"/>
                <a:cs typeface="Pattanakarn"/>
                <a:sym typeface="Pattanakarn"/>
              </a:rPr>
              <a:t>ETL &amp; EDA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9719707" y="-324550"/>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50659" y="7761728"/>
            <a:ext cx="6928434" cy="4114800"/>
          </a:xfrm>
          <a:custGeom>
            <a:avLst/>
            <a:gdLst/>
            <a:ahLst/>
            <a:cxnLst/>
            <a:rect r="r" b="b" t="t" l="l"/>
            <a:pathLst>
              <a:path h="4114800" w="6928434">
                <a:moveTo>
                  <a:pt x="0" y="0"/>
                </a:moveTo>
                <a:lnTo>
                  <a:pt x="6928434" y="0"/>
                </a:lnTo>
                <a:lnTo>
                  <a:pt x="6928434" y="4114800"/>
                </a:lnTo>
                <a:lnTo>
                  <a:pt x="0" y="4114800"/>
                </a:lnTo>
                <a:lnTo>
                  <a:pt x="0" y="0"/>
                </a:lnTo>
                <a:close/>
              </a:path>
            </a:pathLst>
          </a:custGeom>
          <a:blipFill>
            <a:blip r:embed="rId6">
              <a:alphaModFix amt="55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35969" y="2801053"/>
            <a:ext cx="6947934" cy="6198268"/>
          </a:xfrm>
          <a:custGeom>
            <a:avLst/>
            <a:gdLst/>
            <a:ahLst/>
            <a:cxnLst/>
            <a:rect r="r" b="b" t="t" l="l"/>
            <a:pathLst>
              <a:path h="6198268" w="6947934">
                <a:moveTo>
                  <a:pt x="0" y="0"/>
                </a:moveTo>
                <a:lnTo>
                  <a:pt x="6947933" y="0"/>
                </a:lnTo>
                <a:lnTo>
                  <a:pt x="6947933" y="6198268"/>
                </a:lnTo>
                <a:lnTo>
                  <a:pt x="0" y="61982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323751" y="569808"/>
            <a:ext cx="7263603" cy="9147384"/>
            <a:chOff x="0" y="0"/>
            <a:chExt cx="1913048" cy="2409188"/>
          </a:xfrm>
        </p:grpSpPr>
        <p:sp>
          <p:nvSpPr>
            <p:cNvPr name="Freeform 7" id="7"/>
            <p:cNvSpPr/>
            <p:nvPr/>
          </p:nvSpPr>
          <p:spPr>
            <a:xfrm flipH="false" flipV="false" rot="0">
              <a:off x="0" y="0"/>
              <a:ext cx="1913048" cy="2409188"/>
            </a:xfrm>
            <a:custGeom>
              <a:avLst/>
              <a:gdLst/>
              <a:ahLst/>
              <a:cxnLst/>
              <a:rect r="r" b="b" t="t" l="l"/>
              <a:pathLst>
                <a:path h="2409188" w="1913048">
                  <a:moveTo>
                    <a:pt x="54358" y="0"/>
                  </a:moveTo>
                  <a:lnTo>
                    <a:pt x="1858689" y="0"/>
                  </a:lnTo>
                  <a:cubicBezTo>
                    <a:pt x="1888711" y="0"/>
                    <a:pt x="1913048" y="24337"/>
                    <a:pt x="1913048" y="54358"/>
                  </a:cubicBezTo>
                  <a:lnTo>
                    <a:pt x="1913048" y="2354829"/>
                  </a:lnTo>
                  <a:cubicBezTo>
                    <a:pt x="1913048" y="2384851"/>
                    <a:pt x="1888711" y="2409188"/>
                    <a:pt x="1858689" y="2409188"/>
                  </a:cubicBezTo>
                  <a:lnTo>
                    <a:pt x="54358" y="2409188"/>
                  </a:lnTo>
                  <a:cubicBezTo>
                    <a:pt x="39942" y="2409188"/>
                    <a:pt x="26115" y="2403461"/>
                    <a:pt x="15921" y="2393267"/>
                  </a:cubicBezTo>
                  <a:cubicBezTo>
                    <a:pt x="5727" y="2383072"/>
                    <a:pt x="0" y="2369246"/>
                    <a:pt x="0" y="2354829"/>
                  </a:cubicBezTo>
                  <a:lnTo>
                    <a:pt x="0" y="54358"/>
                  </a:lnTo>
                  <a:cubicBezTo>
                    <a:pt x="0" y="24337"/>
                    <a:pt x="24337" y="0"/>
                    <a:pt x="54358"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1913048"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1088613" y="1211178"/>
            <a:ext cx="470276" cy="470276"/>
          </a:xfrm>
          <a:custGeom>
            <a:avLst/>
            <a:gdLst/>
            <a:ahLst/>
            <a:cxnLst/>
            <a:rect r="r" b="b" t="t" l="l"/>
            <a:pathLst>
              <a:path h="470276" w="470276">
                <a:moveTo>
                  <a:pt x="0" y="0"/>
                </a:moveTo>
                <a:lnTo>
                  <a:pt x="470275" y="0"/>
                </a:lnTo>
                <a:lnTo>
                  <a:pt x="470275" y="470275"/>
                </a:lnTo>
                <a:lnTo>
                  <a:pt x="0" y="4702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9319398" y="1239753"/>
            <a:ext cx="7939902" cy="1208913"/>
          </a:xfrm>
          <a:prstGeom prst="rect">
            <a:avLst/>
          </a:prstGeom>
        </p:spPr>
        <p:txBody>
          <a:bodyPr anchor="t" rtlCol="false" tIns="0" lIns="0" bIns="0" rIns="0">
            <a:spAutoFit/>
          </a:bodyPr>
          <a:lstStyle/>
          <a:p>
            <a:pPr algn="r">
              <a:lnSpc>
                <a:spcPts val="4745"/>
              </a:lnSpc>
            </a:pPr>
            <a:r>
              <a:rPr lang="en-US" sz="4200">
                <a:solidFill>
                  <a:srgbClr val="FFFFFF"/>
                </a:solidFill>
                <a:latin typeface="Pattanakarn"/>
                <a:ea typeface="Pattanakarn"/>
                <a:cs typeface="Pattanakarn"/>
                <a:sym typeface="Pattanakarn"/>
              </a:rPr>
              <a:t>ETL</a:t>
            </a:r>
            <a:r>
              <a:rPr lang="en-US" sz="4200">
                <a:solidFill>
                  <a:srgbClr val="FFFFFF"/>
                </a:solidFill>
                <a:latin typeface="Pattanakarn"/>
                <a:ea typeface="Pattanakarn"/>
                <a:cs typeface="Pattanakarn"/>
                <a:sym typeface="Pattanakarn"/>
              </a:rPr>
              <a:t> &amp; Cleaning Design (Common Pattern)</a:t>
            </a:r>
          </a:p>
        </p:txBody>
      </p:sp>
      <p:sp>
        <p:nvSpPr>
          <p:cNvPr name="TextBox 11" id="11"/>
          <p:cNvSpPr txBox="true"/>
          <p:nvPr/>
        </p:nvSpPr>
        <p:spPr>
          <a:xfrm rot="0">
            <a:off x="1752752" y="1154028"/>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EXTRACT</a:t>
            </a:r>
          </a:p>
        </p:txBody>
      </p:sp>
      <p:sp>
        <p:nvSpPr>
          <p:cNvPr name="TextBox 12" id="12"/>
          <p:cNvSpPr txBox="true"/>
          <p:nvPr/>
        </p:nvSpPr>
        <p:spPr>
          <a:xfrm rot="0">
            <a:off x="1752752" y="1856173"/>
            <a:ext cx="5856649" cy="94488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Re</a:t>
            </a:r>
            <a:r>
              <a:rPr lang="en-US" sz="1800">
                <a:solidFill>
                  <a:srgbClr val="FFFFFF"/>
                </a:solidFill>
                <a:latin typeface="Cy Grotesk Key"/>
                <a:ea typeface="Cy Grotesk Key"/>
                <a:cs typeface="Cy Grotesk Key"/>
                <a:sym typeface="Cy Grotesk Key"/>
              </a:rPr>
              <a:t>ad from MySQL staging tables via Spark JDBC with server-side trimming and NULL coercion (e.g. handling "", 'na', 'null', '.' as NULL)</a:t>
            </a:r>
          </a:p>
        </p:txBody>
      </p:sp>
      <p:sp>
        <p:nvSpPr>
          <p:cNvPr name="TextBox 13" id="13"/>
          <p:cNvSpPr txBox="true"/>
          <p:nvPr/>
        </p:nvSpPr>
        <p:spPr>
          <a:xfrm rot="0">
            <a:off x="1752752" y="3195637"/>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BAS</a:t>
            </a:r>
            <a:r>
              <a:rPr lang="en-US" sz="2750">
                <a:solidFill>
                  <a:srgbClr val="44A5FF"/>
                </a:solidFill>
                <a:latin typeface="Cy Grotesk Key"/>
                <a:ea typeface="Cy Grotesk Key"/>
                <a:cs typeface="Cy Grotesk Key"/>
                <a:sym typeface="Cy Grotesk Key"/>
              </a:rPr>
              <a:t>ELINE AUDIT:</a:t>
            </a:r>
          </a:p>
        </p:txBody>
      </p:sp>
      <p:sp>
        <p:nvSpPr>
          <p:cNvPr name="TextBox 14" id="14"/>
          <p:cNvSpPr txBox="true"/>
          <p:nvPr/>
        </p:nvSpPr>
        <p:spPr>
          <a:xfrm rot="0">
            <a:off x="1752752" y="3734689"/>
            <a:ext cx="5856649" cy="630555"/>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Miss</a:t>
            </a:r>
            <a:r>
              <a:rPr lang="en-US" sz="1800">
                <a:solidFill>
                  <a:srgbClr val="FFFFFF"/>
                </a:solidFill>
                <a:latin typeface="Cy Grotesk Key"/>
                <a:ea typeface="Cy Grotesk Key"/>
                <a:cs typeface="Cy Grotesk Key"/>
                <a:sym typeface="Cy Grotesk Key"/>
              </a:rPr>
              <a:t>ingness profile, data type snapshot, duplicate summary for each table</a:t>
            </a:r>
          </a:p>
        </p:txBody>
      </p:sp>
      <p:sp>
        <p:nvSpPr>
          <p:cNvPr name="TextBox 15" id="15"/>
          <p:cNvSpPr txBox="true"/>
          <p:nvPr/>
        </p:nvSpPr>
        <p:spPr>
          <a:xfrm rot="0">
            <a:off x="1752752" y="4643260"/>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T</a:t>
            </a:r>
            <a:r>
              <a:rPr lang="en-US" sz="2750">
                <a:solidFill>
                  <a:srgbClr val="44A5FF"/>
                </a:solidFill>
                <a:latin typeface="Cy Grotesk Key"/>
                <a:ea typeface="Cy Grotesk Key"/>
                <a:cs typeface="Cy Grotesk Key"/>
                <a:sym typeface="Cy Grotesk Key"/>
              </a:rPr>
              <a:t>RANSFORM:</a:t>
            </a:r>
          </a:p>
        </p:txBody>
      </p:sp>
      <p:sp>
        <p:nvSpPr>
          <p:cNvPr name="TextBox 16" id="16"/>
          <p:cNvSpPr txBox="true"/>
          <p:nvPr/>
        </p:nvSpPr>
        <p:spPr>
          <a:xfrm rot="0">
            <a:off x="1752752" y="5173550"/>
            <a:ext cx="6274399" cy="251650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Drop</a:t>
            </a:r>
            <a:r>
              <a:rPr lang="en-US" sz="1800">
                <a:solidFill>
                  <a:srgbClr val="FFFFFF"/>
                </a:solidFill>
                <a:latin typeface="Cy Grotesk Key"/>
                <a:ea typeface="Cy Grotesk Key"/>
                <a:cs typeface="Cy Grotesk Key"/>
                <a:sym typeface="Cy Grotesk Key"/>
              </a:rPr>
              <a:t> exact duplicates (ignoring cleaned_date)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Normalise schema (renames, type casting, trimming strings)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Rule-based validation for business logic (e.g. valid gender values, rating ranges, future dates)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Simple missing value imputation (numeric → mean/median; categoricals → mode)</a:t>
            </a:r>
          </a:p>
          <a:p>
            <a:pPr algn="l">
              <a:lnSpc>
                <a:spcPts val="2520"/>
              </a:lnSpc>
              <a:spcBef>
                <a:spcPct val="0"/>
              </a:spcBef>
            </a:pPr>
          </a:p>
        </p:txBody>
      </p:sp>
      <p:sp>
        <p:nvSpPr>
          <p:cNvPr name="Freeform 17" id="17"/>
          <p:cNvSpPr/>
          <p:nvPr/>
        </p:nvSpPr>
        <p:spPr>
          <a:xfrm flipH="false" flipV="false" rot="0">
            <a:off x="1088613" y="3252787"/>
            <a:ext cx="470276" cy="470276"/>
          </a:xfrm>
          <a:custGeom>
            <a:avLst/>
            <a:gdLst/>
            <a:ahLst/>
            <a:cxnLst/>
            <a:rect r="r" b="b" t="t" l="l"/>
            <a:pathLst>
              <a:path h="470276" w="470276">
                <a:moveTo>
                  <a:pt x="0" y="0"/>
                </a:moveTo>
                <a:lnTo>
                  <a:pt x="470275" y="0"/>
                </a:lnTo>
                <a:lnTo>
                  <a:pt x="470275" y="470276"/>
                </a:lnTo>
                <a:lnTo>
                  <a:pt x="0" y="4702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088613" y="4673224"/>
            <a:ext cx="470276" cy="470276"/>
          </a:xfrm>
          <a:custGeom>
            <a:avLst/>
            <a:gdLst/>
            <a:ahLst/>
            <a:cxnLst/>
            <a:rect r="r" b="b" t="t" l="l"/>
            <a:pathLst>
              <a:path h="470276" w="470276">
                <a:moveTo>
                  <a:pt x="0" y="0"/>
                </a:moveTo>
                <a:lnTo>
                  <a:pt x="470275" y="0"/>
                </a:lnTo>
                <a:lnTo>
                  <a:pt x="470275" y="470276"/>
                </a:lnTo>
                <a:lnTo>
                  <a:pt x="0" y="4702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088613" y="7526590"/>
            <a:ext cx="470276" cy="470276"/>
          </a:xfrm>
          <a:custGeom>
            <a:avLst/>
            <a:gdLst/>
            <a:ahLst/>
            <a:cxnLst/>
            <a:rect r="r" b="b" t="t" l="l"/>
            <a:pathLst>
              <a:path h="470276" w="470276">
                <a:moveTo>
                  <a:pt x="0" y="0"/>
                </a:moveTo>
                <a:lnTo>
                  <a:pt x="470275" y="0"/>
                </a:lnTo>
                <a:lnTo>
                  <a:pt x="470275" y="470276"/>
                </a:lnTo>
                <a:lnTo>
                  <a:pt x="0" y="4702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752752" y="7523811"/>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LOAD:</a:t>
            </a:r>
          </a:p>
        </p:txBody>
      </p:sp>
      <p:sp>
        <p:nvSpPr>
          <p:cNvPr name="TextBox 21" id="21"/>
          <p:cNvSpPr txBox="true"/>
          <p:nvPr/>
        </p:nvSpPr>
        <p:spPr>
          <a:xfrm rot="0">
            <a:off x="1752752" y="8063541"/>
            <a:ext cx="5856649" cy="630555"/>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Insert </a:t>
            </a:r>
            <a:r>
              <a:rPr lang="en-US" sz="1800">
                <a:solidFill>
                  <a:srgbClr val="FFFFFF"/>
                </a:solidFill>
                <a:latin typeface="Cy Grotesk Key"/>
                <a:ea typeface="Cy Grotesk Key"/>
                <a:cs typeface="Cy Grotesk Key"/>
                <a:sym typeface="Cy Grotesk Key"/>
              </a:rPr>
              <a:t>cleaned records into warehouse tables and mark staging rows as cleaned_date = NOW()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1947026"/>
            <a:chOff x="0" y="0"/>
            <a:chExt cx="1945751" cy="512797"/>
          </a:xfrm>
        </p:grpSpPr>
        <p:sp>
          <p:nvSpPr>
            <p:cNvPr name="Freeform 7" id="7"/>
            <p:cNvSpPr/>
            <p:nvPr/>
          </p:nvSpPr>
          <p:spPr>
            <a:xfrm flipH="false" flipV="false" rot="0">
              <a:off x="0" y="0"/>
              <a:ext cx="1945751" cy="512797"/>
            </a:xfrm>
            <a:custGeom>
              <a:avLst/>
              <a:gdLst/>
              <a:ahLst/>
              <a:cxnLst/>
              <a:rect r="r" b="b" t="t" l="l"/>
              <a:pathLst>
                <a:path h="512797" w="1945751">
                  <a:moveTo>
                    <a:pt x="29342" y="0"/>
                  </a:moveTo>
                  <a:lnTo>
                    <a:pt x="1916409" y="0"/>
                  </a:lnTo>
                  <a:cubicBezTo>
                    <a:pt x="1924191" y="0"/>
                    <a:pt x="1931654" y="3091"/>
                    <a:pt x="1937157" y="8594"/>
                  </a:cubicBezTo>
                  <a:cubicBezTo>
                    <a:pt x="1942660" y="14097"/>
                    <a:pt x="1945751" y="21560"/>
                    <a:pt x="1945751" y="29342"/>
                  </a:cubicBezTo>
                  <a:lnTo>
                    <a:pt x="1945751" y="483455"/>
                  </a:lnTo>
                  <a:cubicBezTo>
                    <a:pt x="1945751" y="491237"/>
                    <a:pt x="1942660" y="498700"/>
                    <a:pt x="1937157" y="504203"/>
                  </a:cubicBezTo>
                  <a:cubicBezTo>
                    <a:pt x="1931654" y="509705"/>
                    <a:pt x="1924191" y="512797"/>
                    <a:pt x="1916409" y="512797"/>
                  </a:cubicBezTo>
                  <a:lnTo>
                    <a:pt x="29342" y="512797"/>
                  </a:lnTo>
                  <a:cubicBezTo>
                    <a:pt x="21560" y="512797"/>
                    <a:pt x="14097" y="509705"/>
                    <a:pt x="8594" y="504203"/>
                  </a:cubicBezTo>
                  <a:cubicBezTo>
                    <a:pt x="3091" y="498700"/>
                    <a:pt x="0" y="491237"/>
                    <a:pt x="0" y="483455"/>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465172"/>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1047591" y="4549629"/>
            <a:ext cx="7387774" cy="1329324"/>
            <a:chOff x="0" y="0"/>
            <a:chExt cx="1945751" cy="350110"/>
          </a:xfrm>
        </p:grpSpPr>
        <p:sp>
          <p:nvSpPr>
            <p:cNvPr name="Freeform 10" id="10"/>
            <p:cNvSpPr/>
            <p:nvPr/>
          </p:nvSpPr>
          <p:spPr>
            <a:xfrm flipH="false" flipV="false" rot="0">
              <a:off x="0" y="0"/>
              <a:ext cx="1945751" cy="350110"/>
            </a:xfrm>
            <a:custGeom>
              <a:avLst/>
              <a:gdLst/>
              <a:ahLst/>
              <a:cxnLst/>
              <a:rect r="r" b="b" t="t" l="l"/>
              <a:pathLst>
                <a:path h="350110" w="1945751">
                  <a:moveTo>
                    <a:pt x="29342" y="0"/>
                  </a:moveTo>
                  <a:lnTo>
                    <a:pt x="1916409" y="0"/>
                  </a:lnTo>
                  <a:cubicBezTo>
                    <a:pt x="1924191" y="0"/>
                    <a:pt x="1931654" y="3091"/>
                    <a:pt x="1937157" y="8594"/>
                  </a:cubicBezTo>
                  <a:cubicBezTo>
                    <a:pt x="1942660" y="14097"/>
                    <a:pt x="1945751" y="21560"/>
                    <a:pt x="1945751" y="29342"/>
                  </a:cubicBezTo>
                  <a:lnTo>
                    <a:pt x="1945751" y="320768"/>
                  </a:lnTo>
                  <a:cubicBezTo>
                    <a:pt x="1945751" y="328550"/>
                    <a:pt x="1942660" y="336013"/>
                    <a:pt x="1937157" y="341516"/>
                  </a:cubicBezTo>
                  <a:cubicBezTo>
                    <a:pt x="1931654" y="347018"/>
                    <a:pt x="1924191" y="350110"/>
                    <a:pt x="1916409" y="350110"/>
                  </a:cubicBezTo>
                  <a:lnTo>
                    <a:pt x="29342" y="350110"/>
                  </a:lnTo>
                  <a:cubicBezTo>
                    <a:pt x="21560" y="350110"/>
                    <a:pt x="14097" y="347018"/>
                    <a:pt x="8594" y="341516"/>
                  </a:cubicBezTo>
                  <a:cubicBezTo>
                    <a:pt x="3091" y="336013"/>
                    <a:pt x="0" y="328550"/>
                    <a:pt x="0" y="320768"/>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1" id="11"/>
            <p:cNvSpPr txBox="true"/>
            <p:nvPr/>
          </p:nvSpPr>
          <p:spPr>
            <a:xfrm>
              <a:off x="0" y="47625"/>
              <a:ext cx="1945751" cy="302485"/>
            </a:xfrm>
            <a:prstGeom prst="rect">
              <a:avLst/>
            </a:prstGeom>
          </p:spPr>
          <p:txBody>
            <a:bodyPr anchor="ctr" rtlCol="false" tIns="50800" lIns="50800" bIns="50800" rIns="50800"/>
            <a:lstStyle/>
            <a:p>
              <a:pPr algn="ctr">
                <a:lnSpc>
                  <a:spcPts val="2011"/>
                </a:lnSpc>
              </a:pPr>
            </a:p>
          </p:txBody>
        </p:sp>
      </p:grpSp>
      <p:grpSp>
        <p:nvGrpSpPr>
          <p:cNvPr name="Group 12" id="12"/>
          <p:cNvGrpSpPr/>
          <p:nvPr/>
        </p:nvGrpSpPr>
        <p:grpSpPr>
          <a:xfrm rot="0">
            <a:off x="1047591" y="5983728"/>
            <a:ext cx="7387774" cy="3835400"/>
            <a:chOff x="0" y="0"/>
            <a:chExt cx="1945751" cy="1010147"/>
          </a:xfrm>
        </p:grpSpPr>
        <p:sp>
          <p:nvSpPr>
            <p:cNvPr name="Freeform 13" id="13"/>
            <p:cNvSpPr/>
            <p:nvPr/>
          </p:nvSpPr>
          <p:spPr>
            <a:xfrm flipH="false" flipV="false" rot="0">
              <a:off x="0" y="0"/>
              <a:ext cx="1945751" cy="1010147"/>
            </a:xfrm>
            <a:custGeom>
              <a:avLst/>
              <a:gdLst/>
              <a:ahLst/>
              <a:cxnLst/>
              <a:rect r="r" b="b" t="t" l="l"/>
              <a:pathLst>
                <a:path h="1010147" w="1945751">
                  <a:moveTo>
                    <a:pt x="29342" y="0"/>
                  </a:moveTo>
                  <a:lnTo>
                    <a:pt x="1916409" y="0"/>
                  </a:lnTo>
                  <a:cubicBezTo>
                    <a:pt x="1924191" y="0"/>
                    <a:pt x="1931654" y="3091"/>
                    <a:pt x="1937157" y="8594"/>
                  </a:cubicBezTo>
                  <a:cubicBezTo>
                    <a:pt x="1942660" y="14097"/>
                    <a:pt x="1945751" y="21560"/>
                    <a:pt x="1945751" y="29342"/>
                  </a:cubicBezTo>
                  <a:lnTo>
                    <a:pt x="1945751" y="980804"/>
                  </a:lnTo>
                  <a:cubicBezTo>
                    <a:pt x="1945751" y="988586"/>
                    <a:pt x="1942660" y="996050"/>
                    <a:pt x="1937157" y="1001552"/>
                  </a:cubicBezTo>
                  <a:cubicBezTo>
                    <a:pt x="1931654" y="1007055"/>
                    <a:pt x="1924191" y="1010147"/>
                    <a:pt x="1916409" y="1010147"/>
                  </a:cubicBezTo>
                  <a:lnTo>
                    <a:pt x="29342" y="1010147"/>
                  </a:lnTo>
                  <a:cubicBezTo>
                    <a:pt x="21560" y="1010147"/>
                    <a:pt x="14097" y="1007055"/>
                    <a:pt x="8594" y="1001552"/>
                  </a:cubicBezTo>
                  <a:cubicBezTo>
                    <a:pt x="3091" y="996050"/>
                    <a:pt x="0" y="988586"/>
                    <a:pt x="0" y="980804"/>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4" id="14"/>
            <p:cNvSpPr txBox="true"/>
            <p:nvPr/>
          </p:nvSpPr>
          <p:spPr>
            <a:xfrm>
              <a:off x="0" y="47625"/>
              <a:ext cx="1945751" cy="962522"/>
            </a:xfrm>
            <a:prstGeom prst="rect">
              <a:avLst/>
            </a:prstGeom>
          </p:spPr>
          <p:txBody>
            <a:bodyPr anchor="ctr" rtlCol="false" tIns="50800" lIns="50800" bIns="50800" rIns="50800"/>
            <a:lstStyle/>
            <a:p>
              <a:pPr algn="ctr">
                <a:lnSpc>
                  <a:spcPts val="2011"/>
                </a:lnSpc>
              </a:pPr>
            </a:p>
          </p:txBody>
        </p:sp>
      </p:grpSp>
      <p:grpSp>
        <p:nvGrpSpPr>
          <p:cNvPr name="Group 15" id="15"/>
          <p:cNvGrpSpPr/>
          <p:nvPr/>
        </p:nvGrpSpPr>
        <p:grpSpPr>
          <a:xfrm rot="0">
            <a:off x="752839" y="2434253"/>
            <a:ext cx="703243" cy="70324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8" id="18"/>
          <p:cNvSpPr txBox="true"/>
          <p:nvPr/>
        </p:nvSpPr>
        <p:spPr>
          <a:xfrm rot="0">
            <a:off x="1307987" y="1047750"/>
            <a:ext cx="7338197" cy="12268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D</a:t>
            </a:r>
            <a:r>
              <a:rPr lang="en-US" sz="4200">
                <a:solidFill>
                  <a:srgbClr val="FFFFFF"/>
                </a:solidFill>
                <a:latin typeface="Pattanakarn"/>
                <a:ea typeface="Pattanakarn"/>
                <a:cs typeface="Pattanakarn"/>
                <a:sym typeface="Pattanakarn"/>
              </a:rPr>
              <a:t>river: Data Cleaning (Dim_Driver)</a:t>
            </a:r>
          </a:p>
        </p:txBody>
      </p:sp>
      <p:sp>
        <p:nvSpPr>
          <p:cNvPr name="TextBox 19" id="19"/>
          <p:cNvSpPr txBox="true"/>
          <p:nvPr/>
        </p:nvSpPr>
        <p:spPr>
          <a:xfrm rot="0">
            <a:off x="1700030" y="2689003"/>
            <a:ext cx="6082894" cy="17589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Extrac</a:t>
            </a:r>
            <a:r>
              <a:rPr lang="en-US" sz="1999">
                <a:solidFill>
                  <a:srgbClr val="FFFFFF"/>
                </a:solidFill>
                <a:latin typeface="Cy Grotesk Key"/>
                <a:ea typeface="Cy Grotesk Key"/>
                <a:cs typeface="Cy Grotesk Key"/>
                <a:sym typeface="Cy Grotesk Key"/>
              </a:rPr>
              <a:t>tion: Pull rows from drivers_source in staging where cleaned_date IS NULL via Spark JDBC; server-side handling of noisy strings → NULL before loading into Spark</a:t>
            </a:r>
          </a:p>
          <a:p>
            <a:pPr algn="l">
              <a:lnSpc>
                <a:spcPts val="2799"/>
              </a:lnSpc>
              <a:spcBef>
                <a:spcPct val="0"/>
              </a:spcBef>
            </a:pPr>
          </a:p>
        </p:txBody>
      </p:sp>
      <p:sp>
        <p:nvSpPr>
          <p:cNvPr name="TextBox 20" id="20"/>
          <p:cNvSpPr txBox="true"/>
          <p:nvPr/>
        </p:nvSpPr>
        <p:spPr>
          <a:xfrm rot="0">
            <a:off x="1722782" y="4839641"/>
            <a:ext cx="6082894" cy="70167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Duplic</a:t>
            </a:r>
            <a:r>
              <a:rPr lang="en-US" sz="1999">
                <a:solidFill>
                  <a:srgbClr val="FFFFFF"/>
                </a:solidFill>
                <a:latin typeface="Cy Grotesk Key"/>
                <a:ea typeface="Cy Grotesk Key"/>
                <a:cs typeface="Cy Grotesk Key"/>
                <a:sym typeface="Cy Grotesk Key"/>
              </a:rPr>
              <a:t>ates: Drop exact duplicates (excluding cleaned_date), confirm remaining unique rows</a:t>
            </a:r>
          </a:p>
        </p:txBody>
      </p:sp>
      <p:sp>
        <p:nvSpPr>
          <p:cNvPr name="TextBox 21" id="21"/>
          <p:cNvSpPr txBox="true"/>
          <p:nvPr/>
        </p:nvSpPr>
        <p:spPr>
          <a:xfrm rot="0">
            <a:off x="1597136" y="6298053"/>
            <a:ext cx="6082894" cy="352107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Type</a:t>
            </a:r>
            <a:r>
              <a:rPr lang="en-US" sz="1999">
                <a:solidFill>
                  <a:srgbClr val="FFFFFF"/>
                </a:solidFill>
                <a:latin typeface="Cy Grotesk Key"/>
                <a:ea typeface="Cy Grotesk Key"/>
                <a:cs typeface="Cy Grotesk Key"/>
                <a:sym typeface="Cy Grotesk Key"/>
              </a:rPr>
              <a:t> casting &amp; schema:</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Standardise numeric fields (no_of_years_driving_exp, car_model_year, driver_rating) as doubles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Treat ID, name, gender, car brand as trimmed strings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Keep date_of_birth as a cleaned string first, then parse to date only at load step for robustness</a:t>
            </a:r>
          </a:p>
          <a:p>
            <a:pPr algn="l">
              <a:lnSpc>
                <a:spcPts val="2799"/>
              </a:lnSpc>
              <a:spcBef>
                <a:spcPct val="0"/>
              </a:spcBef>
            </a:pPr>
          </a:p>
        </p:txBody>
      </p:sp>
      <p:grpSp>
        <p:nvGrpSpPr>
          <p:cNvPr name="Group 22" id="22"/>
          <p:cNvGrpSpPr/>
          <p:nvPr/>
        </p:nvGrpSpPr>
        <p:grpSpPr>
          <a:xfrm rot="0">
            <a:off x="752839" y="4663982"/>
            <a:ext cx="703243" cy="70324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4" id="24"/>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grpSp>
        <p:nvGrpSpPr>
          <p:cNvPr name="Group 25" id="25"/>
          <p:cNvGrpSpPr/>
          <p:nvPr/>
        </p:nvGrpSpPr>
        <p:grpSpPr>
          <a:xfrm rot="0">
            <a:off x="752839" y="6108080"/>
            <a:ext cx="703243" cy="70324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7" id="27"/>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8" id="28"/>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1</a:t>
            </a:r>
          </a:p>
        </p:txBody>
      </p:sp>
      <p:sp>
        <p:nvSpPr>
          <p:cNvPr name="TextBox 29" id="29"/>
          <p:cNvSpPr txBox="true"/>
          <p:nvPr/>
        </p:nvSpPr>
        <p:spPr>
          <a:xfrm rot="0">
            <a:off x="974513" y="477080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2</a:t>
            </a:r>
          </a:p>
        </p:txBody>
      </p:sp>
      <p:sp>
        <p:nvSpPr>
          <p:cNvPr name="TextBox 30" id="30"/>
          <p:cNvSpPr txBox="true"/>
          <p:nvPr/>
        </p:nvSpPr>
        <p:spPr>
          <a:xfrm rot="0">
            <a:off x="974513" y="6202803"/>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3</a:t>
            </a:r>
          </a:p>
        </p:txBody>
      </p:sp>
      <p:sp>
        <p:nvSpPr>
          <p:cNvPr name="Freeform 31" id="31"/>
          <p:cNvSpPr/>
          <p:nvPr/>
        </p:nvSpPr>
        <p:spPr>
          <a:xfrm flipH="false" flipV="false" rot="0">
            <a:off x="3758850"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true" flipV="false" rot="0">
            <a:off x="9290035"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9852185" y="2434253"/>
            <a:ext cx="7387774" cy="3423401"/>
            <a:chOff x="0" y="0"/>
            <a:chExt cx="1945751" cy="901636"/>
          </a:xfrm>
        </p:grpSpPr>
        <p:sp>
          <p:nvSpPr>
            <p:cNvPr name="Freeform 34" id="34"/>
            <p:cNvSpPr/>
            <p:nvPr/>
          </p:nvSpPr>
          <p:spPr>
            <a:xfrm flipH="false" flipV="false" rot="0">
              <a:off x="0" y="0"/>
              <a:ext cx="1945751" cy="901636"/>
            </a:xfrm>
            <a:custGeom>
              <a:avLst/>
              <a:gdLst/>
              <a:ahLst/>
              <a:cxnLst/>
              <a:rect r="r" b="b" t="t" l="l"/>
              <a:pathLst>
                <a:path h="901636" w="1945751">
                  <a:moveTo>
                    <a:pt x="29342" y="0"/>
                  </a:moveTo>
                  <a:lnTo>
                    <a:pt x="1916409" y="0"/>
                  </a:lnTo>
                  <a:cubicBezTo>
                    <a:pt x="1924191" y="0"/>
                    <a:pt x="1931654" y="3091"/>
                    <a:pt x="1937157" y="8594"/>
                  </a:cubicBezTo>
                  <a:cubicBezTo>
                    <a:pt x="1942660" y="14097"/>
                    <a:pt x="1945751" y="21560"/>
                    <a:pt x="1945751" y="29342"/>
                  </a:cubicBezTo>
                  <a:lnTo>
                    <a:pt x="1945751" y="872294"/>
                  </a:lnTo>
                  <a:cubicBezTo>
                    <a:pt x="1945751" y="880076"/>
                    <a:pt x="1942660" y="887539"/>
                    <a:pt x="1937157" y="893042"/>
                  </a:cubicBezTo>
                  <a:cubicBezTo>
                    <a:pt x="1931654" y="898545"/>
                    <a:pt x="1924191" y="901636"/>
                    <a:pt x="1916409" y="901636"/>
                  </a:cubicBezTo>
                  <a:lnTo>
                    <a:pt x="29342" y="901636"/>
                  </a:lnTo>
                  <a:cubicBezTo>
                    <a:pt x="21560" y="901636"/>
                    <a:pt x="14097" y="898545"/>
                    <a:pt x="8594" y="893042"/>
                  </a:cubicBezTo>
                  <a:cubicBezTo>
                    <a:pt x="3091" y="887539"/>
                    <a:pt x="0" y="880076"/>
                    <a:pt x="0" y="872294"/>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35" id="35"/>
            <p:cNvSpPr txBox="true"/>
            <p:nvPr/>
          </p:nvSpPr>
          <p:spPr>
            <a:xfrm>
              <a:off x="0" y="47625"/>
              <a:ext cx="1945751" cy="854011"/>
            </a:xfrm>
            <a:prstGeom prst="rect">
              <a:avLst/>
            </a:prstGeom>
          </p:spPr>
          <p:txBody>
            <a:bodyPr anchor="ctr" rtlCol="false" tIns="50800" lIns="50800" bIns="50800" rIns="50800"/>
            <a:lstStyle/>
            <a:p>
              <a:pPr algn="ctr">
                <a:lnSpc>
                  <a:spcPts val="2011"/>
                </a:lnSpc>
              </a:pPr>
            </a:p>
          </p:txBody>
        </p:sp>
      </p:grpSp>
      <p:grpSp>
        <p:nvGrpSpPr>
          <p:cNvPr name="Group 36" id="36"/>
          <p:cNvGrpSpPr/>
          <p:nvPr/>
        </p:nvGrpSpPr>
        <p:grpSpPr>
          <a:xfrm rot="0">
            <a:off x="9852185" y="5983728"/>
            <a:ext cx="7387774" cy="2778125"/>
            <a:chOff x="0" y="0"/>
            <a:chExt cx="1945751" cy="731687"/>
          </a:xfrm>
        </p:grpSpPr>
        <p:sp>
          <p:nvSpPr>
            <p:cNvPr name="Freeform 37" id="37"/>
            <p:cNvSpPr/>
            <p:nvPr/>
          </p:nvSpPr>
          <p:spPr>
            <a:xfrm flipH="false" flipV="false" rot="0">
              <a:off x="0" y="0"/>
              <a:ext cx="1945751" cy="731687"/>
            </a:xfrm>
            <a:custGeom>
              <a:avLst/>
              <a:gdLst/>
              <a:ahLst/>
              <a:cxnLst/>
              <a:rect r="r" b="b" t="t" l="l"/>
              <a:pathLst>
                <a:path h="731687" w="1945751">
                  <a:moveTo>
                    <a:pt x="29342" y="0"/>
                  </a:moveTo>
                  <a:lnTo>
                    <a:pt x="1916409" y="0"/>
                  </a:lnTo>
                  <a:cubicBezTo>
                    <a:pt x="1924191" y="0"/>
                    <a:pt x="1931654" y="3091"/>
                    <a:pt x="1937157" y="8594"/>
                  </a:cubicBezTo>
                  <a:cubicBezTo>
                    <a:pt x="1942660" y="14097"/>
                    <a:pt x="1945751" y="21560"/>
                    <a:pt x="1945751" y="29342"/>
                  </a:cubicBezTo>
                  <a:lnTo>
                    <a:pt x="1945751" y="702345"/>
                  </a:lnTo>
                  <a:cubicBezTo>
                    <a:pt x="1945751" y="710127"/>
                    <a:pt x="1942660" y="717590"/>
                    <a:pt x="1937157" y="723093"/>
                  </a:cubicBezTo>
                  <a:cubicBezTo>
                    <a:pt x="1931654" y="728596"/>
                    <a:pt x="1924191" y="731687"/>
                    <a:pt x="1916409" y="731687"/>
                  </a:cubicBezTo>
                  <a:lnTo>
                    <a:pt x="29342" y="731687"/>
                  </a:lnTo>
                  <a:cubicBezTo>
                    <a:pt x="21560" y="731687"/>
                    <a:pt x="14097" y="728596"/>
                    <a:pt x="8594" y="723093"/>
                  </a:cubicBezTo>
                  <a:cubicBezTo>
                    <a:pt x="3091" y="717590"/>
                    <a:pt x="0" y="710127"/>
                    <a:pt x="0" y="702345"/>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38" id="38"/>
            <p:cNvSpPr txBox="true"/>
            <p:nvPr/>
          </p:nvSpPr>
          <p:spPr>
            <a:xfrm>
              <a:off x="0" y="47625"/>
              <a:ext cx="1945751" cy="684062"/>
            </a:xfrm>
            <a:prstGeom prst="rect">
              <a:avLst/>
            </a:prstGeom>
          </p:spPr>
          <p:txBody>
            <a:bodyPr anchor="ctr" rtlCol="false" tIns="50800" lIns="50800" bIns="50800" rIns="50800"/>
            <a:lstStyle/>
            <a:p>
              <a:pPr algn="ctr">
                <a:lnSpc>
                  <a:spcPts val="2011"/>
                </a:lnSpc>
              </a:pPr>
            </a:p>
          </p:txBody>
        </p:sp>
      </p:grpSp>
      <p:grpSp>
        <p:nvGrpSpPr>
          <p:cNvPr name="Group 39" id="39"/>
          <p:cNvGrpSpPr/>
          <p:nvPr/>
        </p:nvGrpSpPr>
        <p:grpSpPr>
          <a:xfrm rot="0">
            <a:off x="9557433" y="2434253"/>
            <a:ext cx="703243" cy="703243"/>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42" id="42"/>
          <p:cNvSpPr txBox="true"/>
          <p:nvPr/>
        </p:nvSpPr>
        <p:spPr>
          <a:xfrm rot="0">
            <a:off x="10504625" y="2689003"/>
            <a:ext cx="6082894" cy="31686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Rule-based valida</a:t>
            </a:r>
            <a:r>
              <a:rPr lang="en-US" sz="1999">
                <a:solidFill>
                  <a:srgbClr val="FFFFFF"/>
                </a:solidFill>
                <a:latin typeface="Cy Grotesk Key"/>
                <a:ea typeface="Cy Grotesk Key"/>
                <a:cs typeface="Cy Grotesk Key"/>
                <a:sym typeface="Cy Grotesk Key"/>
              </a:rPr>
              <a:t>tion:</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DOB must not be in the future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gender must be Male/Female (case-insensitive) or set to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car_model_year must not exceed current year</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driver_rating constrained to [2, 5]; out-of-range values → NULL</a:t>
            </a:r>
          </a:p>
          <a:p>
            <a:pPr algn="l">
              <a:lnSpc>
                <a:spcPts val="2799"/>
              </a:lnSpc>
              <a:spcBef>
                <a:spcPct val="0"/>
              </a:spcBef>
            </a:pPr>
          </a:p>
        </p:txBody>
      </p:sp>
      <p:sp>
        <p:nvSpPr>
          <p:cNvPr name="TextBox 43" id="43"/>
          <p:cNvSpPr txBox="true"/>
          <p:nvPr/>
        </p:nvSpPr>
        <p:spPr>
          <a:xfrm rot="0">
            <a:off x="10401730" y="6298053"/>
            <a:ext cx="6082894" cy="24638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Imput</a:t>
            </a:r>
            <a:r>
              <a:rPr lang="en-US" sz="1999">
                <a:solidFill>
                  <a:srgbClr val="FFFFFF"/>
                </a:solidFill>
                <a:latin typeface="Cy Grotesk Key"/>
                <a:ea typeface="Cy Grotesk Key"/>
                <a:cs typeface="Cy Grotesk Key"/>
                <a:sym typeface="Cy Grotesk Key"/>
              </a:rPr>
              <a:t>ation:</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Numeric: choose mean or median based on skewness; use Spark skewness + approxQuantile to decide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Categorical: fill NULLs with the mode per column</a:t>
            </a:r>
          </a:p>
          <a:p>
            <a:pPr algn="l">
              <a:lnSpc>
                <a:spcPts val="2799"/>
              </a:lnSpc>
              <a:spcBef>
                <a:spcPct val="0"/>
              </a:spcBef>
            </a:pPr>
          </a:p>
        </p:txBody>
      </p:sp>
      <p:grpSp>
        <p:nvGrpSpPr>
          <p:cNvPr name="Group 44" id="44"/>
          <p:cNvGrpSpPr/>
          <p:nvPr/>
        </p:nvGrpSpPr>
        <p:grpSpPr>
          <a:xfrm rot="0">
            <a:off x="9557433" y="6108080"/>
            <a:ext cx="703243" cy="70324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6" id="46"/>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47" id="47"/>
          <p:cNvSpPr txBox="true"/>
          <p:nvPr/>
        </p:nvSpPr>
        <p:spPr>
          <a:xfrm rot="0">
            <a:off x="9779107"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4</a:t>
            </a:r>
          </a:p>
        </p:txBody>
      </p:sp>
      <p:sp>
        <p:nvSpPr>
          <p:cNvPr name="TextBox 48" id="48"/>
          <p:cNvSpPr txBox="true"/>
          <p:nvPr/>
        </p:nvSpPr>
        <p:spPr>
          <a:xfrm rot="0">
            <a:off x="9779107" y="6202803"/>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3070976"/>
            <a:chOff x="0" y="0"/>
            <a:chExt cx="1945751" cy="808817"/>
          </a:xfrm>
        </p:grpSpPr>
        <p:sp>
          <p:nvSpPr>
            <p:cNvPr name="Freeform 7" id="7"/>
            <p:cNvSpPr/>
            <p:nvPr/>
          </p:nvSpPr>
          <p:spPr>
            <a:xfrm flipH="false" flipV="false" rot="0">
              <a:off x="0" y="0"/>
              <a:ext cx="1945751" cy="808817"/>
            </a:xfrm>
            <a:custGeom>
              <a:avLst/>
              <a:gdLst/>
              <a:ahLst/>
              <a:cxnLst/>
              <a:rect r="r" b="b" t="t" l="l"/>
              <a:pathLst>
                <a:path h="808817" w="1945751">
                  <a:moveTo>
                    <a:pt x="29342" y="0"/>
                  </a:moveTo>
                  <a:lnTo>
                    <a:pt x="1916409" y="0"/>
                  </a:lnTo>
                  <a:cubicBezTo>
                    <a:pt x="1924191" y="0"/>
                    <a:pt x="1931654" y="3091"/>
                    <a:pt x="1937157" y="8594"/>
                  </a:cubicBezTo>
                  <a:cubicBezTo>
                    <a:pt x="1942660" y="14097"/>
                    <a:pt x="1945751" y="21560"/>
                    <a:pt x="1945751" y="29342"/>
                  </a:cubicBezTo>
                  <a:lnTo>
                    <a:pt x="1945751" y="779474"/>
                  </a:lnTo>
                  <a:cubicBezTo>
                    <a:pt x="1945751" y="787256"/>
                    <a:pt x="1942660" y="794720"/>
                    <a:pt x="1937157" y="800222"/>
                  </a:cubicBezTo>
                  <a:cubicBezTo>
                    <a:pt x="1931654" y="805725"/>
                    <a:pt x="1924191" y="808817"/>
                    <a:pt x="1916409" y="808817"/>
                  </a:cubicBezTo>
                  <a:lnTo>
                    <a:pt x="29342" y="808817"/>
                  </a:lnTo>
                  <a:cubicBezTo>
                    <a:pt x="21560" y="808817"/>
                    <a:pt x="14097" y="805725"/>
                    <a:pt x="8594" y="800222"/>
                  </a:cubicBezTo>
                  <a:cubicBezTo>
                    <a:pt x="3091" y="794720"/>
                    <a:pt x="0" y="787256"/>
                    <a:pt x="0" y="779474"/>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761192"/>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1047591" y="5983728"/>
            <a:ext cx="7387774" cy="2778125"/>
            <a:chOff x="0" y="0"/>
            <a:chExt cx="1945751" cy="731687"/>
          </a:xfrm>
        </p:grpSpPr>
        <p:sp>
          <p:nvSpPr>
            <p:cNvPr name="Freeform 10" id="10"/>
            <p:cNvSpPr/>
            <p:nvPr/>
          </p:nvSpPr>
          <p:spPr>
            <a:xfrm flipH="false" flipV="false" rot="0">
              <a:off x="0" y="0"/>
              <a:ext cx="1945751" cy="731687"/>
            </a:xfrm>
            <a:custGeom>
              <a:avLst/>
              <a:gdLst/>
              <a:ahLst/>
              <a:cxnLst/>
              <a:rect r="r" b="b" t="t" l="l"/>
              <a:pathLst>
                <a:path h="731687" w="1945751">
                  <a:moveTo>
                    <a:pt x="29342" y="0"/>
                  </a:moveTo>
                  <a:lnTo>
                    <a:pt x="1916409" y="0"/>
                  </a:lnTo>
                  <a:cubicBezTo>
                    <a:pt x="1924191" y="0"/>
                    <a:pt x="1931654" y="3091"/>
                    <a:pt x="1937157" y="8594"/>
                  </a:cubicBezTo>
                  <a:cubicBezTo>
                    <a:pt x="1942660" y="14097"/>
                    <a:pt x="1945751" y="21560"/>
                    <a:pt x="1945751" y="29342"/>
                  </a:cubicBezTo>
                  <a:lnTo>
                    <a:pt x="1945751" y="702345"/>
                  </a:lnTo>
                  <a:cubicBezTo>
                    <a:pt x="1945751" y="710127"/>
                    <a:pt x="1942660" y="717590"/>
                    <a:pt x="1937157" y="723093"/>
                  </a:cubicBezTo>
                  <a:cubicBezTo>
                    <a:pt x="1931654" y="728596"/>
                    <a:pt x="1924191" y="731687"/>
                    <a:pt x="1916409" y="731687"/>
                  </a:cubicBezTo>
                  <a:lnTo>
                    <a:pt x="29342" y="731687"/>
                  </a:lnTo>
                  <a:cubicBezTo>
                    <a:pt x="21560" y="731687"/>
                    <a:pt x="14097" y="728596"/>
                    <a:pt x="8594" y="723093"/>
                  </a:cubicBezTo>
                  <a:cubicBezTo>
                    <a:pt x="3091" y="717590"/>
                    <a:pt x="0" y="710127"/>
                    <a:pt x="0" y="702345"/>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1" id="11"/>
            <p:cNvSpPr txBox="true"/>
            <p:nvPr/>
          </p:nvSpPr>
          <p:spPr>
            <a:xfrm>
              <a:off x="0" y="47625"/>
              <a:ext cx="1945751" cy="684062"/>
            </a:xfrm>
            <a:prstGeom prst="rect">
              <a:avLst/>
            </a:prstGeom>
          </p:spPr>
          <p:txBody>
            <a:bodyPr anchor="ctr" rtlCol="false" tIns="50800" lIns="50800" bIns="50800" rIns="50800"/>
            <a:lstStyle/>
            <a:p>
              <a:pPr algn="ctr">
                <a:lnSpc>
                  <a:spcPts val="2011"/>
                </a:lnSpc>
              </a:pPr>
            </a:p>
          </p:txBody>
        </p:sp>
      </p:grpSp>
      <p:grpSp>
        <p:nvGrpSpPr>
          <p:cNvPr name="Group 12" id="12"/>
          <p:cNvGrpSpPr/>
          <p:nvPr/>
        </p:nvGrpSpPr>
        <p:grpSpPr>
          <a:xfrm rot="0">
            <a:off x="752839" y="2434253"/>
            <a:ext cx="703243" cy="70324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5" id="15"/>
          <p:cNvSpPr txBox="true"/>
          <p:nvPr/>
        </p:nvSpPr>
        <p:spPr>
          <a:xfrm rot="0">
            <a:off x="1307987" y="1047750"/>
            <a:ext cx="8249446" cy="6172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D</a:t>
            </a:r>
            <a:r>
              <a:rPr lang="en-US" sz="4200">
                <a:solidFill>
                  <a:srgbClr val="FFFFFF"/>
                </a:solidFill>
                <a:latin typeface="Pattanakarn"/>
                <a:ea typeface="Pattanakarn"/>
                <a:cs typeface="Pattanakarn"/>
                <a:sym typeface="Pattanakarn"/>
              </a:rPr>
              <a:t>river: Outlier Handling &amp; Load</a:t>
            </a:r>
          </a:p>
        </p:txBody>
      </p:sp>
      <p:sp>
        <p:nvSpPr>
          <p:cNvPr name="TextBox 16" id="16"/>
          <p:cNvSpPr txBox="true"/>
          <p:nvPr/>
        </p:nvSpPr>
        <p:spPr>
          <a:xfrm rot="0">
            <a:off x="1700030" y="2689003"/>
            <a:ext cx="6082894" cy="28162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Univaria</a:t>
            </a:r>
            <a:r>
              <a:rPr lang="en-US" sz="1999">
                <a:solidFill>
                  <a:srgbClr val="FFFFFF"/>
                </a:solidFill>
                <a:latin typeface="Cy Grotesk Key"/>
                <a:ea typeface="Cy Grotesk Key"/>
                <a:cs typeface="Cy Grotesk Key"/>
                <a:sym typeface="Cy Grotesk Key"/>
              </a:rPr>
              <a:t>te outliers: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Automatically choose Z-score or IQR method based on skewness/kurtosis per column</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Add boolean flags like driver_rating__is_uni_outlier for key numeric features</a:t>
            </a:r>
          </a:p>
          <a:p>
            <a:pPr algn="l">
              <a:lnSpc>
                <a:spcPts val="2799"/>
              </a:lnSpc>
              <a:spcBef>
                <a:spcPct val="0"/>
              </a:spcBef>
            </a:pPr>
          </a:p>
        </p:txBody>
      </p:sp>
      <p:sp>
        <p:nvSpPr>
          <p:cNvPr name="TextBox 17" id="17"/>
          <p:cNvSpPr txBox="true"/>
          <p:nvPr/>
        </p:nvSpPr>
        <p:spPr>
          <a:xfrm rot="0">
            <a:off x="1597136" y="6298053"/>
            <a:ext cx="6082894" cy="24638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Multivariate</a:t>
            </a:r>
            <a:r>
              <a:rPr lang="en-US" sz="1999">
                <a:solidFill>
                  <a:srgbClr val="FFFFFF"/>
                </a:solidFill>
                <a:latin typeface="Cy Grotesk Key"/>
                <a:ea typeface="Cy Grotesk Key"/>
                <a:cs typeface="Cy Grotesk Key"/>
                <a:sym typeface="Cy Grotesk Key"/>
              </a:rPr>
              <a:t> outlier score: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Use PCA reconstruction error on scaled numeric features to compute _mv_score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Flag top 5% as multivariate outliers (_mv_is_outlier) for documentation, not removal</a:t>
            </a:r>
          </a:p>
          <a:p>
            <a:pPr algn="l">
              <a:lnSpc>
                <a:spcPts val="2799"/>
              </a:lnSpc>
              <a:spcBef>
                <a:spcPct val="0"/>
              </a:spcBef>
            </a:pPr>
          </a:p>
        </p:txBody>
      </p:sp>
      <p:grpSp>
        <p:nvGrpSpPr>
          <p:cNvPr name="Group 18" id="18"/>
          <p:cNvGrpSpPr/>
          <p:nvPr/>
        </p:nvGrpSpPr>
        <p:grpSpPr>
          <a:xfrm rot="0">
            <a:off x="752839" y="6108080"/>
            <a:ext cx="703243" cy="70324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1" id="21"/>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1</a:t>
            </a:r>
          </a:p>
        </p:txBody>
      </p:sp>
      <p:sp>
        <p:nvSpPr>
          <p:cNvPr name="TextBox 22" id="22"/>
          <p:cNvSpPr txBox="true"/>
          <p:nvPr/>
        </p:nvSpPr>
        <p:spPr>
          <a:xfrm rot="0">
            <a:off x="974513" y="6202803"/>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2</a:t>
            </a:r>
          </a:p>
        </p:txBody>
      </p:sp>
      <p:sp>
        <p:nvSpPr>
          <p:cNvPr name="Freeform 23" id="23"/>
          <p:cNvSpPr/>
          <p:nvPr/>
        </p:nvSpPr>
        <p:spPr>
          <a:xfrm flipH="false" flipV="false" rot="0">
            <a:off x="3758850"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false" rot="0">
            <a:off x="9290035"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9852185" y="2434253"/>
            <a:ext cx="7387774" cy="4480676"/>
            <a:chOff x="0" y="0"/>
            <a:chExt cx="1945751" cy="1180096"/>
          </a:xfrm>
        </p:grpSpPr>
        <p:sp>
          <p:nvSpPr>
            <p:cNvPr name="Freeform 26" id="26"/>
            <p:cNvSpPr/>
            <p:nvPr/>
          </p:nvSpPr>
          <p:spPr>
            <a:xfrm flipH="false" flipV="false" rot="0">
              <a:off x="0" y="0"/>
              <a:ext cx="1945751" cy="1180096"/>
            </a:xfrm>
            <a:custGeom>
              <a:avLst/>
              <a:gdLst/>
              <a:ahLst/>
              <a:cxnLst/>
              <a:rect r="r" b="b" t="t" l="l"/>
              <a:pathLst>
                <a:path h="1180096" w="1945751">
                  <a:moveTo>
                    <a:pt x="29342" y="0"/>
                  </a:moveTo>
                  <a:lnTo>
                    <a:pt x="1916409" y="0"/>
                  </a:lnTo>
                  <a:cubicBezTo>
                    <a:pt x="1924191" y="0"/>
                    <a:pt x="1931654" y="3091"/>
                    <a:pt x="1937157" y="8594"/>
                  </a:cubicBezTo>
                  <a:cubicBezTo>
                    <a:pt x="1942660" y="14097"/>
                    <a:pt x="1945751" y="21560"/>
                    <a:pt x="1945751" y="29342"/>
                  </a:cubicBezTo>
                  <a:lnTo>
                    <a:pt x="1945751" y="1150753"/>
                  </a:lnTo>
                  <a:cubicBezTo>
                    <a:pt x="1945751" y="1158535"/>
                    <a:pt x="1942660" y="1165999"/>
                    <a:pt x="1937157" y="1171501"/>
                  </a:cubicBezTo>
                  <a:cubicBezTo>
                    <a:pt x="1931654" y="1177004"/>
                    <a:pt x="1924191" y="1180096"/>
                    <a:pt x="1916409" y="1180096"/>
                  </a:cubicBezTo>
                  <a:lnTo>
                    <a:pt x="29342" y="1180096"/>
                  </a:lnTo>
                  <a:cubicBezTo>
                    <a:pt x="21560" y="1180096"/>
                    <a:pt x="14097" y="1177004"/>
                    <a:pt x="8594" y="1171501"/>
                  </a:cubicBezTo>
                  <a:cubicBezTo>
                    <a:pt x="3091" y="1165999"/>
                    <a:pt x="0" y="1158535"/>
                    <a:pt x="0" y="1150753"/>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27" id="27"/>
            <p:cNvSpPr txBox="true"/>
            <p:nvPr/>
          </p:nvSpPr>
          <p:spPr>
            <a:xfrm>
              <a:off x="0" y="47625"/>
              <a:ext cx="1945751" cy="1132471"/>
            </a:xfrm>
            <a:prstGeom prst="rect">
              <a:avLst/>
            </a:prstGeom>
          </p:spPr>
          <p:txBody>
            <a:bodyPr anchor="ctr" rtlCol="false" tIns="50800" lIns="50800" bIns="50800" rIns="50800"/>
            <a:lstStyle/>
            <a:p>
              <a:pPr algn="ctr">
                <a:lnSpc>
                  <a:spcPts val="2011"/>
                </a:lnSpc>
              </a:pPr>
            </a:p>
          </p:txBody>
        </p:sp>
      </p:grpSp>
      <p:grpSp>
        <p:nvGrpSpPr>
          <p:cNvPr name="Group 28" id="28"/>
          <p:cNvGrpSpPr/>
          <p:nvPr/>
        </p:nvGrpSpPr>
        <p:grpSpPr>
          <a:xfrm rot="0">
            <a:off x="9557433" y="2434253"/>
            <a:ext cx="703243" cy="7032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31" id="31"/>
          <p:cNvSpPr txBox="true"/>
          <p:nvPr/>
        </p:nvSpPr>
        <p:spPr>
          <a:xfrm rot="0">
            <a:off x="10504625" y="2689003"/>
            <a:ext cx="6082894" cy="42259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Warehouse load (Dim_Dr</a:t>
            </a:r>
            <a:r>
              <a:rPr lang="en-US" sz="1999">
                <a:solidFill>
                  <a:srgbClr val="FFFFFF"/>
                </a:solidFill>
                <a:latin typeface="Cy Grotesk Key"/>
                <a:ea typeface="Cy Grotesk Key"/>
                <a:cs typeface="Cy Grotesk Key"/>
                <a:sym typeface="Cy Grotesk Key"/>
              </a:rPr>
              <a:t>iver):</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Build Dim_Driver rows with driver profile + car attributes + outlier flags + mv_score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Drop duplicates within batch by (driver_id, car_brand, car_model_year)</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Left-anti join to existing Dim_Driver to avoid re-inserting existing driver–car combos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Append only new rows; then update staging drivers_source.cleaned_date with NOW()</a:t>
            </a:r>
          </a:p>
          <a:p>
            <a:pPr algn="l">
              <a:lnSpc>
                <a:spcPts val="2799"/>
              </a:lnSpc>
              <a:spcBef>
                <a:spcPct val="0"/>
              </a:spcBef>
            </a:pPr>
          </a:p>
        </p:txBody>
      </p:sp>
      <p:sp>
        <p:nvSpPr>
          <p:cNvPr name="TextBox 32" id="32"/>
          <p:cNvSpPr txBox="true"/>
          <p:nvPr/>
        </p:nvSpPr>
        <p:spPr>
          <a:xfrm rot="0">
            <a:off x="9779107"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4582617"/>
            <a:chOff x="0" y="0"/>
            <a:chExt cx="1945751" cy="1206944"/>
          </a:xfrm>
        </p:grpSpPr>
        <p:sp>
          <p:nvSpPr>
            <p:cNvPr name="Freeform 7" id="7"/>
            <p:cNvSpPr/>
            <p:nvPr/>
          </p:nvSpPr>
          <p:spPr>
            <a:xfrm flipH="false" flipV="false" rot="0">
              <a:off x="0" y="0"/>
              <a:ext cx="1945751" cy="1206944"/>
            </a:xfrm>
            <a:custGeom>
              <a:avLst/>
              <a:gdLst/>
              <a:ahLst/>
              <a:cxnLst/>
              <a:rect r="r" b="b" t="t" l="l"/>
              <a:pathLst>
                <a:path h="1206944" w="1945751">
                  <a:moveTo>
                    <a:pt x="29342" y="0"/>
                  </a:moveTo>
                  <a:lnTo>
                    <a:pt x="1916409" y="0"/>
                  </a:lnTo>
                  <a:cubicBezTo>
                    <a:pt x="1924191" y="0"/>
                    <a:pt x="1931654" y="3091"/>
                    <a:pt x="1937157" y="8594"/>
                  </a:cubicBezTo>
                  <a:cubicBezTo>
                    <a:pt x="1942660" y="14097"/>
                    <a:pt x="1945751" y="21560"/>
                    <a:pt x="1945751" y="29342"/>
                  </a:cubicBezTo>
                  <a:lnTo>
                    <a:pt x="1945751" y="1177602"/>
                  </a:lnTo>
                  <a:cubicBezTo>
                    <a:pt x="1945751" y="1185384"/>
                    <a:pt x="1942660" y="1192848"/>
                    <a:pt x="1937157" y="1198350"/>
                  </a:cubicBezTo>
                  <a:cubicBezTo>
                    <a:pt x="1931654" y="1203853"/>
                    <a:pt x="1924191" y="1206944"/>
                    <a:pt x="1916409" y="1206944"/>
                  </a:cubicBezTo>
                  <a:lnTo>
                    <a:pt x="29342" y="1206944"/>
                  </a:lnTo>
                  <a:cubicBezTo>
                    <a:pt x="21560" y="1206944"/>
                    <a:pt x="14097" y="1203853"/>
                    <a:pt x="8594" y="1198350"/>
                  </a:cubicBezTo>
                  <a:cubicBezTo>
                    <a:pt x="3091" y="1192848"/>
                    <a:pt x="0" y="1185384"/>
                    <a:pt x="0" y="1177602"/>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1159319"/>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752839" y="2434253"/>
            <a:ext cx="703243" cy="7032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2" id="12"/>
          <p:cNvSpPr txBox="true"/>
          <p:nvPr/>
        </p:nvSpPr>
        <p:spPr>
          <a:xfrm rot="0">
            <a:off x="1307987" y="1047750"/>
            <a:ext cx="8249446" cy="12268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Saf</a:t>
            </a:r>
            <a:r>
              <a:rPr lang="en-US" sz="4200">
                <a:solidFill>
                  <a:srgbClr val="FFFFFF"/>
                </a:solidFill>
                <a:latin typeface="Pattanakarn"/>
                <a:ea typeface="Pattanakarn"/>
                <a:cs typeface="Pattanakarn"/>
                <a:sym typeface="Pattanakarn"/>
              </a:rPr>
              <a:t>ety Status: Data Cleaning (Fact_Label)</a:t>
            </a:r>
          </a:p>
        </p:txBody>
      </p:sp>
      <p:sp>
        <p:nvSpPr>
          <p:cNvPr name="TextBox 13" id="13"/>
          <p:cNvSpPr txBox="true"/>
          <p:nvPr/>
        </p:nvSpPr>
        <p:spPr>
          <a:xfrm rot="0">
            <a:off x="1700030" y="2689003"/>
            <a:ext cx="6082894" cy="42259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Similari</a:t>
            </a:r>
            <a:r>
              <a:rPr lang="en-US" sz="1999">
                <a:solidFill>
                  <a:srgbClr val="FFFFFF"/>
                </a:solidFill>
                <a:latin typeface="Cy Grotesk Key"/>
                <a:ea typeface="Cy Grotesk Key"/>
                <a:cs typeface="Cy Grotesk Key"/>
                <a:sym typeface="Cy Grotesk Key"/>
              </a:rPr>
              <a:t>ties with Driver cleaning:</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Source &amp; extraction</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Reads from staging.safety_labels_source where cleaned_date IS NULL.</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Uses a server-side SQL layer to:</a:t>
            </a:r>
          </a:p>
          <a:p>
            <a:pPr algn="l" marL="1295397" indent="-323849" lvl="3">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Convert blanks / placeholders to NULL.</a:t>
            </a:r>
          </a:p>
          <a:p>
            <a:pPr algn="l" marL="1295397" indent="-323849" lvl="3">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Cast </a:t>
            </a:r>
            <a:r>
              <a:rPr lang="en-US" sz="1999">
                <a:solidFill>
                  <a:srgbClr val="FFFFFF"/>
                </a:solidFill>
                <a:latin typeface="Cy Grotesk Key"/>
                <a:ea typeface="Cy Grotesk Key"/>
                <a:cs typeface="Cy Grotesk Key"/>
                <a:sym typeface="Cy Grotesk Key"/>
              </a:rPr>
              <a:t>driver_id and label to DOUBLE.</a:t>
            </a:r>
          </a:p>
          <a:p>
            <a:pPr algn="l" marL="1295397" indent="-323849" lvl="3">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Keep bookingId as a cleaned string ID.</a:t>
            </a:r>
          </a:p>
          <a:p>
            <a:pPr algn="l">
              <a:lnSpc>
                <a:spcPts val="2799"/>
              </a:lnSpc>
              <a:spcBef>
                <a:spcPct val="0"/>
              </a:spcBef>
            </a:pPr>
          </a:p>
        </p:txBody>
      </p:sp>
      <p:sp>
        <p:nvSpPr>
          <p:cNvPr name="TextBox 14" id="14"/>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1</a:t>
            </a:r>
          </a:p>
        </p:txBody>
      </p:sp>
      <p:sp>
        <p:nvSpPr>
          <p:cNvPr name="Freeform 15" id="15"/>
          <p:cNvSpPr/>
          <p:nvPr/>
        </p:nvSpPr>
        <p:spPr>
          <a:xfrm flipH="true" flipV="false" rot="0">
            <a:off x="9763556" y="-2621021"/>
            <a:ext cx="7139284" cy="9379588"/>
          </a:xfrm>
          <a:custGeom>
            <a:avLst/>
            <a:gdLst/>
            <a:ahLst/>
            <a:cxnLst/>
            <a:rect r="r" b="b" t="t" l="l"/>
            <a:pathLst>
              <a:path h="9379588" w="7139284">
                <a:moveTo>
                  <a:pt x="7139284" y="0"/>
                </a:moveTo>
                <a:lnTo>
                  <a:pt x="0" y="0"/>
                </a:lnTo>
                <a:lnTo>
                  <a:pt x="0" y="9379588"/>
                </a:lnTo>
                <a:lnTo>
                  <a:pt x="7139284" y="9379588"/>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1052811" y="7273911"/>
            <a:ext cx="7387774" cy="2718551"/>
            <a:chOff x="0" y="0"/>
            <a:chExt cx="1945751" cy="715997"/>
          </a:xfrm>
        </p:grpSpPr>
        <p:sp>
          <p:nvSpPr>
            <p:cNvPr name="Freeform 17" id="17"/>
            <p:cNvSpPr/>
            <p:nvPr/>
          </p:nvSpPr>
          <p:spPr>
            <a:xfrm flipH="false" flipV="false" rot="0">
              <a:off x="0" y="0"/>
              <a:ext cx="1945751" cy="715997"/>
            </a:xfrm>
            <a:custGeom>
              <a:avLst/>
              <a:gdLst/>
              <a:ahLst/>
              <a:cxnLst/>
              <a:rect r="r" b="b" t="t" l="l"/>
              <a:pathLst>
                <a:path h="715997" w="1945751">
                  <a:moveTo>
                    <a:pt x="29342" y="0"/>
                  </a:moveTo>
                  <a:lnTo>
                    <a:pt x="1916409" y="0"/>
                  </a:lnTo>
                  <a:cubicBezTo>
                    <a:pt x="1924191" y="0"/>
                    <a:pt x="1931654" y="3091"/>
                    <a:pt x="1937157" y="8594"/>
                  </a:cubicBezTo>
                  <a:cubicBezTo>
                    <a:pt x="1942660" y="14097"/>
                    <a:pt x="1945751" y="21560"/>
                    <a:pt x="1945751" y="29342"/>
                  </a:cubicBezTo>
                  <a:lnTo>
                    <a:pt x="1945751" y="686655"/>
                  </a:lnTo>
                  <a:cubicBezTo>
                    <a:pt x="1945751" y="694437"/>
                    <a:pt x="1942660" y="701900"/>
                    <a:pt x="1937157" y="707403"/>
                  </a:cubicBezTo>
                  <a:cubicBezTo>
                    <a:pt x="1931654" y="712905"/>
                    <a:pt x="1924191" y="715997"/>
                    <a:pt x="1916409" y="715997"/>
                  </a:cubicBezTo>
                  <a:lnTo>
                    <a:pt x="29342" y="715997"/>
                  </a:lnTo>
                  <a:cubicBezTo>
                    <a:pt x="21560" y="715997"/>
                    <a:pt x="14097" y="712905"/>
                    <a:pt x="8594" y="707403"/>
                  </a:cubicBezTo>
                  <a:cubicBezTo>
                    <a:pt x="3091" y="701900"/>
                    <a:pt x="0" y="694437"/>
                    <a:pt x="0" y="686655"/>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8" id="18"/>
            <p:cNvSpPr txBox="true"/>
            <p:nvPr/>
          </p:nvSpPr>
          <p:spPr>
            <a:xfrm>
              <a:off x="0" y="47625"/>
              <a:ext cx="1945751" cy="668372"/>
            </a:xfrm>
            <a:prstGeom prst="rect">
              <a:avLst/>
            </a:prstGeom>
          </p:spPr>
          <p:txBody>
            <a:bodyPr anchor="ctr" rtlCol="false" tIns="50800" lIns="50800" bIns="50800" rIns="50800"/>
            <a:lstStyle/>
            <a:p>
              <a:pPr algn="ctr">
                <a:lnSpc>
                  <a:spcPts val="2011"/>
                </a:lnSpc>
              </a:pPr>
            </a:p>
          </p:txBody>
        </p:sp>
      </p:grpSp>
      <p:grpSp>
        <p:nvGrpSpPr>
          <p:cNvPr name="Group 19" id="19"/>
          <p:cNvGrpSpPr/>
          <p:nvPr/>
        </p:nvGrpSpPr>
        <p:grpSpPr>
          <a:xfrm rot="0">
            <a:off x="758059" y="7273911"/>
            <a:ext cx="703243" cy="70324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2" id="22"/>
          <p:cNvSpPr txBox="true"/>
          <p:nvPr/>
        </p:nvSpPr>
        <p:spPr>
          <a:xfrm rot="0">
            <a:off x="1705251" y="7528662"/>
            <a:ext cx="6082894" cy="2463800"/>
          </a:xfrm>
          <a:prstGeom prst="rect">
            <a:avLst/>
          </a:prstGeom>
        </p:spPr>
        <p:txBody>
          <a:bodyPr anchor="t" rtlCol="false" tIns="0" lIns="0" bIns="0" rIns="0">
            <a:spAutoFit/>
          </a:bodyPr>
          <a:lstStyle/>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Baselin</a:t>
            </a:r>
            <a:r>
              <a:rPr lang="en-US" sz="1999">
                <a:solidFill>
                  <a:srgbClr val="FFFFFF"/>
                </a:solidFill>
                <a:latin typeface="Cy Grotesk Key"/>
                <a:ea typeface="Cy Grotesk Key"/>
                <a:cs typeface="Cy Grotesk Key"/>
                <a:sym typeface="Cy Grotesk Key"/>
              </a:rPr>
              <a:t>e audit</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Missingness profile, dtype snapshot, and duplicate audit before any cleaning.</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Exact duplicate rows (same bookingId, driver_id, label) are dropped.</a:t>
            </a:r>
          </a:p>
          <a:p>
            <a:pPr algn="l">
              <a:lnSpc>
                <a:spcPts val="2799"/>
              </a:lnSpc>
              <a:spcBef>
                <a:spcPct val="0"/>
              </a:spcBef>
            </a:pPr>
          </a:p>
        </p:txBody>
      </p:sp>
      <p:sp>
        <p:nvSpPr>
          <p:cNvPr name="TextBox 23" id="23"/>
          <p:cNvSpPr txBox="true"/>
          <p:nvPr/>
        </p:nvSpPr>
        <p:spPr>
          <a:xfrm rot="0">
            <a:off x="979733" y="7380737"/>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2</a:t>
            </a:r>
          </a:p>
        </p:txBody>
      </p:sp>
      <p:grpSp>
        <p:nvGrpSpPr>
          <p:cNvPr name="Group 24" id="24"/>
          <p:cNvGrpSpPr/>
          <p:nvPr/>
        </p:nvGrpSpPr>
        <p:grpSpPr>
          <a:xfrm rot="0">
            <a:off x="9928385" y="2587544"/>
            <a:ext cx="7387774" cy="2555956"/>
            <a:chOff x="0" y="0"/>
            <a:chExt cx="1945751" cy="673174"/>
          </a:xfrm>
        </p:grpSpPr>
        <p:sp>
          <p:nvSpPr>
            <p:cNvPr name="Freeform 25" id="25"/>
            <p:cNvSpPr/>
            <p:nvPr/>
          </p:nvSpPr>
          <p:spPr>
            <a:xfrm flipH="false" flipV="false" rot="0">
              <a:off x="0" y="0"/>
              <a:ext cx="1945751" cy="673174"/>
            </a:xfrm>
            <a:custGeom>
              <a:avLst/>
              <a:gdLst/>
              <a:ahLst/>
              <a:cxnLst/>
              <a:rect r="r" b="b" t="t" l="l"/>
              <a:pathLst>
                <a:path h="673174" w="1945751">
                  <a:moveTo>
                    <a:pt x="29342" y="0"/>
                  </a:moveTo>
                  <a:lnTo>
                    <a:pt x="1916409" y="0"/>
                  </a:lnTo>
                  <a:cubicBezTo>
                    <a:pt x="1924191" y="0"/>
                    <a:pt x="1931654" y="3091"/>
                    <a:pt x="1937157" y="8594"/>
                  </a:cubicBezTo>
                  <a:cubicBezTo>
                    <a:pt x="1942660" y="14097"/>
                    <a:pt x="1945751" y="21560"/>
                    <a:pt x="1945751" y="29342"/>
                  </a:cubicBezTo>
                  <a:lnTo>
                    <a:pt x="1945751" y="643831"/>
                  </a:lnTo>
                  <a:cubicBezTo>
                    <a:pt x="1945751" y="651613"/>
                    <a:pt x="1942660" y="659077"/>
                    <a:pt x="1937157" y="664579"/>
                  </a:cubicBezTo>
                  <a:cubicBezTo>
                    <a:pt x="1931654" y="670082"/>
                    <a:pt x="1924191" y="673174"/>
                    <a:pt x="1916409" y="673174"/>
                  </a:cubicBezTo>
                  <a:lnTo>
                    <a:pt x="29342" y="673174"/>
                  </a:lnTo>
                  <a:cubicBezTo>
                    <a:pt x="21560" y="673174"/>
                    <a:pt x="14097" y="670082"/>
                    <a:pt x="8594" y="664579"/>
                  </a:cubicBezTo>
                  <a:cubicBezTo>
                    <a:pt x="3091" y="659077"/>
                    <a:pt x="0" y="651613"/>
                    <a:pt x="0" y="643831"/>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26" id="26"/>
            <p:cNvSpPr txBox="true"/>
            <p:nvPr/>
          </p:nvSpPr>
          <p:spPr>
            <a:xfrm>
              <a:off x="0" y="47625"/>
              <a:ext cx="1945751" cy="625549"/>
            </a:xfrm>
            <a:prstGeom prst="rect">
              <a:avLst/>
            </a:prstGeom>
          </p:spPr>
          <p:txBody>
            <a:bodyPr anchor="ctr" rtlCol="false" tIns="50800" lIns="50800" bIns="50800" rIns="50800"/>
            <a:lstStyle/>
            <a:p>
              <a:pPr algn="ctr">
                <a:lnSpc>
                  <a:spcPts val="2011"/>
                </a:lnSpc>
              </a:pPr>
            </a:p>
          </p:txBody>
        </p:sp>
      </p:grpSp>
      <p:grpSp>
        <p:nvGrpSpPr>
          <p:cNvPr name="Group 27" id="27"/>
          <p:cNvGrpSpPr/>
          <p:nvPr/>
        </p:nvGrpSpPr>
        <p:grpSpPr>
          <a:xfrm rot="0">
            <a:off x="9633633" y="2587544"/>
            <a:ext cx="703243" cy="70324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9" id="29"/>
            <p:cNvSpPr txBox="true"/>
            <p:nvPr/>
          </p:nvSpPr>
          <p:spPr>
            <a:xfrm>
              <a:off x="76200" y="123825"/>
              <a:ext cx="660400" cy="612775"/>
            </a:xfrm>
            <a:prstGeom prst="rect">
              <a:avLst/>
            </a:prstGeom>
          </p:spPr>
          <p:txBody>
            <a:bodyPr anchor="ctr" rtlCol="false" tIns="50800" lIns="50800" bIns="50800" rIns="50800"/>
            <a:lstStyle/>
            <a:p>
              <a:pPr algn="ctr">
                <a:lnSpc>
                  <a:spcPts val="2011"/>
                </a:lnSpc>
              </a:pPr>
              <a:r>
                <a:rPr lang="en-US" b="true" sz="2116">
                  <a:solidFill>
                    <a:srgbClr val="000000"/>
                  </a:solidFill>
                  <a:latin typeface="Cy Grotesk Key Bold"/>
                  <a:ea typeface="Cy Grotesk Key Bold"/>
                  <a:cs typeface="Cy Grotesk Key Bold"/>
                  <a:sym typeface="Cy Grotesk Key Bold"/>
                </a:rPr>
                <a:t>3</a:t>
              </a:r>
            </a:p>
          </p:txBody>
        </p:sp>
      </p:grpSp>
      <p:sp>
        <p:nvSpPr>
          <p:cNvPr name="TextBox 30" id="30"/>
          <p:cNvSpPr txBox="true"/>
          <p:nvPr/>
        </p:nvSpPr>
        <p:spPr>
          <a:xfrm rot="0">
            <a:off x="10584526" y="2742077"/>
            <a:ext cx="6082894" cy="24638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Very small </a:t>
            </a:r>
            <a:r>
              <a:rPr lang="en-US" sz="1999">
                <a:solidFill>
                  <a:srgbClr val="FFFFFF"/>
                </a:solidFill>
                <a:latin typeface="Cy Grotesk Key"/>
                <a:ea typeface="Cy Grotesk Key"/>
                <a:cs typeface="Cy Grotesk Key"/>
                <a:sym typeface="Cy Grotesk Key"/>
              </a:rPr>
              <a:t>schema (3 key columns only)</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bookingId (trip ID)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a:t>
            </a:r>
            <a:r>
              <a:rPr lang="en-US" sz="1999">
                <a:solidFill>
                  <a:srgbClr val="FFFFFF"/>
                </a:solidFill>
                <a:latin typeface="Cy Grotesk Key"/>
                <a:ea typeface="Cy Grotesk Key"/>
                <a:cs typeface="Cy Grotesk Key"/>
                <a:sym typeface="Cy Grotesk Key"/>
              </a:rPr>
              <a:t>river_id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label (0 = Safe, 1 = Dangerous)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 → Because there’s no “extr</a:t>
            </a:r>
            <a:r>
              <a:rPr lang="en-US" sz="1999">
                <a:solidFill>
                  <a:srgbClr val="FFFFFF"/>
                </a:solidFill>
                <a:latin typeface="Cy Grotesk Key"/>
                <a:ea typeface="Cy Grotesk Key"/>
                <a:cs typeface="Cy Grotesk Key"/>
                <a:sym typeface="Cy Grotesk Key"/>
              </a:rPr>
              <a:t>a” </a:t>
            </a:r>
            <a:r>
              <a:rPr lang="en-US" sz="1999">
                <a:solidFill>
                  <a:srgbClr val="FFFFFF"/>
                </a:solidFill>
                <a:latin typeface="Cy Grotesk Key"/>
                <a:ea typeface="Cy Grotesk Key"/>
                <a:cs typeface="Cy Grotesk Key"/>
                <a:sym typeface="Cy Grotesk Key"/>
              </a:rPr>
              <a:t>info, every field is critical.</a:t>
            </a:r>
          </a:p>
          <a:p>
            <a:pPr algn="l">
              <a:lnSpc>
                <a:spcPts val="27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3070976"/>
            <a:chOff x="0" y="0"/>
            <a:chExt cx="1945751" cy="808817"/>
          </a:xfrm>
        </p:grpSpPr>
        <p:sp>
          <p:nvSpPr>
            <p:cNvPr name="Freeform 7" id="7"/>
            <p:cNvSpPr/>
            <p:nvPr/>
          </p:nvSpPr>
          <p:spPr>
            <a:xfrm flipH="false" flipV="false" rot="0">
              <a:off x="0" y="0"/>
              <a:ext cx="1945751" cy="808817"/>
            </a:xfrm>
            <a:custGeom>
              <a:avLst/>
              <a:gdLst/>
              <a:ahLst/>
              <a:cxnLst/>
              <a:rect r="r" b="b" t="t" l="l"/>
              <a:pathLst>
                <a:path h="808817" w="1945751">
                  <a:moveTo>
                    <a:pt x="29342" y="0"/>
                  </a:moveTo>
                  <a:lnTo>
                    <a:pt x="1916409" y="0"/>
                  </a:lnTo>
                  <a:cubicBezTo>
                    <a:pt x="1924191" y="0"/>
                    <a:pt x="1931654" y="3091"/>
                    <a:pt x="1937157" y="8594"/>
                  </a:cubicBezTo>
                  <a:cubicBezTo>
                    <a:pt x="1942660" y="14097"/>
                    <a:pt x="1945751" y="21560"/>
                    <a:pt x="1945751" y="29342"/>
                  </a:cubicBezTo>
                  <a:lnTo>
                    <a:pt x="1945751" y="779474"/>
                  </a:lnTo>
                  <a:cubicBezTo>
                    <a:pt x="1945751" y="787256"/>
                    <a:pt x="1942660" y="794720"/>
                    <a:pt x="1937157" y="800222"/>
                  </a:cubicBezTo>
                  <a:cubicBezTo>
                    <a:pt x="1931654" y="805725"/>
                    <a:pt x="1924191" y="808817"/>
                    <a:pt x="1916409" y="808817"/>
                  </a:cubicBezTo>
                  <a:lnTo>
                    <a:pt x="29342" y="808817"/>
                  </a:lnTo>
                  <a:cubicBezTo>
                    <a:pt x="21560" y="808817"/>
                    <a:pt x="14097" y="805725"/>
                    <a:pt x="8594" y="800222"/>
                  </a:cubicBezTo>
                  <a:cubicBezTo>
                    <a:pt x="3091" y="794720"/>
                    <a:pt x="0" y="787256"/>
                    <a:pt x="0" y="779474"/>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761192"/>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1047591" y="5983728"/>
            <a:ext cx="7387774" cy="3618035"/>
            <a:chOff x="0" y="0"/>
            <a:chExt cx="1945751" cy="952898"/>
          </a:xfrm>
        </p:grpSpPr>
        <p:sp>
          <p:nvSpPr>
            <p:cNvPr name="Freeform 10" id="10"/>
            <p:cNvSpPr/>
            <p:nvPr/>
          </p:nvSpPr>
          <p:spPr>
            <a:xfrm flipH="false" flipV="false" rot="0">
              <a:off x="0" y="0"/>
              <a:ext cx="1945751" cy="952898"/>
            </a:xfrm>
            <a:custGeom>
              <a:avLst/>
              <a:gdLst/>
              <a:ahLst/>
              <a:cxnLst/>
              <a:rect r="r" b="b" t="t" l="l"/>
              <a:pathLst>
                <a:path h="952898" w="1945751">
                  <a:moveTo>
                    <a:pt x="29342" y="0"/>
                  </a:moveTo>
                  <a:lnTo>
                    <a:pt x="1916409" y="0"/>
                  </a:lnTo>
                  <a:cubicBezTo>
                    <a:pt x="1924191" y="0"/>
                    <a:pt x="1931654" y="3091"/>
                    <a:pt x="1937157" y="8594"/>
                  </a:cubicBezTo>
                  <a:cubicBezTo>
                    <a:pt x="1942660" y="14097"/>
                    <a:pt x="1945751" y="21560"/>
                    <a:pt x="1945751" y="29342"/>
                  </a:cubicBezTo>
                  <a:lnTo>
                    <a:pt x="1945751" y="923556"/>
                  </a:lnTo>
                  <a:cubicBezTo>
                    <a:pt x="1945751" y="931338"/>
                    <a:pt x="1942660" y="938801"/>
                    <a:pt x="1937157" y="944304"/>
                  </a:cubicBezTo>
                  <a:cubicBezTo>
                    <a:pt x="1931654" y="949807"/>
                    <a:pt x="1924191" y="952898"/>
                    <a:pt x="1916409" y="952898"/>
                  </a:cubicBezTo>
                  <a:lnTo>
                    <a:pt x="29342" y="952898"/>
                  </a:lnTo>
                  <a:cubicBezTo>
                    <a:pt x="21560" y="952898"/>
                    <a:pt x="14097" y="949807"/>
                    <a:pt x="8594" y="944304"/>
                  </a:cubicBezTo>
                  <a:cubicBezTo>
                    <a:pt x="3091" y="938801"/>
                    <a:pt x="0" y="931338"/>
                    <a:pt x="0" y="923556"/>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1" id="11"/>
            <p:cNvSpPr txBox="true"/>
            <p:nvPr/>
          </p:nvSpPr>
          <p:spPr>
            <a:xfrm>
              <a:off x="0" y="47625"/>
              <a:ext cx="1945751" cy="905273"/>
            </a:xfrm>
            <a:prstGeom prst="rect">
              <a:avLst/>
            </a:prstGeom>
          </p:spPr>
          <p:txBody>
            <a:bodyPr anchor="ctr" rtlCol="false" tIns="50800" lIns="50800" bIns="50800" rIns="50800"/>
            <a:lstStyle/>
            <a:p>
              <a:pPr algn="ctr">
                <a:lnSpc>
                  <a:spcPts val="2011"/>
                </a:lnSpc>
              </a:pPr>
            </a:p>
          </p:txBody>
        </p:sp>
      </p:grpSp>
      <p:grpSp>
        <p:nvGrpSpPr>
          <p:cNvPr name="Group 12" id="12"/>
          <p:cNvGrpSpPr/>
          <p:nvPr/>
        </p:nvGrpSpPr>
        <p:grpSpPr>
          <a:xfrm rot="0">
            <a:off x="752839" y="2434253"/>
            <a:ext cx="703243" cy="70324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5" id="15"/>
          <p:cNvSpPr txBox="true"/>
          <p:nvPr/>
        </p:nvSpPr>
        <p:spPr>
          <a:xfrm rot="0">
            <a:off x="1307987" y="1047750"/>
            <a:ext cx="8249446" cy="6172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Safety Labels: Data Cleaning</a:t>
            </a:r>
          </a:p>
        </p:txBody>
      </p:sp>
      <p:sp>
        <p:nvSpPr>
          <p:cNvPr name="TextBox 16" id="16"/>
          <p:cNvSpPr txBox="true"/>
          <p:nvPr/>
        </p:nvSpPr>
        <p:spPr>
          <a:xfrm rot="0">
            <a:off x="1700030" y="2689003"/>
            <a:ext cx="6082894" cy="24638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Rule-based valida</a:t>
            </a:r>
            <a:r>
              <a:rPr lang="en-US" sz="1999">
                <a:solidFill>
                  <a:srgbClr val="FFFFFF"/>
                </a:solidFill>
                <a:latin typeface="Cy Grotesk Key"/>
                <a:ea typeface="Cy Grotesk Key"/>
                <a:cs typeface="Cy Grotesk Key"/>
                <a:sym typeface="Cy Grotesk Key"/>
              </a:rPr>
              <a:t>tion (domain rules):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bookingId must be non-null, non-empty string.</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driver_id must be numeric and ≥ 1.</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label must be 0 or 1 – any other value is treated as invalid and set to NULL.</a:t>
            </a:r>
          </a:p>
          <a:p>
            <a:pPr algn="l">
              <a:lnSpc>
                <a:spcPts val="2799"/>
              </a:lnSpc>
              <a:spcBef>
                <a:spcPct val="0"/>
              </a:spcBef>
            </a:pPr>
          </a:p>
        </p:txBody>
      </p:sp>
      <p:sp>
        <p:nvSpPr>
          <p:cNvPr name="TextBox 17" id="17"/>
          <p:cNvSpPr txBox="true"/>
          <p:nvPr/>
        </p:nvSpPr>
        <p:spPr>
          <a:xfrm rot="0">
            <a:off x="1597136" y="6298053"/>
            <a:ext cx="6082894" cy="31686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Missing data</a:t>
            </a:r>
            <a:r>
              <a:rPr lang="en-US" sz="1999">
                <a:solidFill>
                  <a:srgbClr val="FFFFFF"/>
                </a:solidFill>
                <a:latin typeface="Cy Grotesk Key"/>
                <a:ea typeface="Cy Grotesk Key"/>
                <a:cs typeface="Cy Grotesk Key"/>
                <a:sym typeface="Cy Grotesk Key"/>
              </a:rPr>
              <a:t> policy is STRICT (unlike Driver/Sensor):</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After validation, any row with NULL in bookingId, driver_id or label is dropped.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No imputation is done here because:</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You can’t “guess” a missing driver_id or trip ID.</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You shouldn’t fabricate safety labels.</a:t>
            </a:r>
          </a:p>
          <a:p>
            <a:pPr algn="l">
              <a:lnSpc>
                <a:spcPts val="2799"/>
              </a:lnSpc>
              <a:spcBef>
                <a:spcPct val="0"/>
              </a:spcBef>
            </a:pPr>
          </a:p>
        </p:txBody>
      </p:sp>
      <p:grpSp>
        <p:nvGrpSpPr>
          <p:cNvPr name="Group 18" id="18"/>
          <p:cNvGrpSpPr/>
          <p:nvPr/>
        </p:nvGrpSpPr>
        <p:grpSpPr>
          <a:xfrm rot="0">
            <a:off x="752839" y="6108080"/>
            <a:ext cx="703243" cy="70324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1" id="21"/>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4</a:t>
            </a:r>
          </a:p>
        </p:txBody>
      </p:sp>
      <p:sp>
        <p:nvSpPr>
          <p:cNvPr name="TextBox 22" id="22"/>
          <p:cNvSpPr txBox="true"/>
          <p:nvPr/>
        </p:nvSpPr>
        <p:spPr>
          <a:xfrm rot="0">
            <a:off x="974513" y="6202803"/>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5</a:t>
            </a:r>
          </a:p>
        </p:txBody>
      </p:sp>
      <p:sp>
        <p:nvSpPr>
          <p:cNvPr name="Freeform 23" id="23"/>
          <p:cNvSpPr/>
          <p:nvPr/>
        </p:nvSpPr>
        <p:spPr>
          <a:xfrm flipH="false" flipV="false" rot="0">
            <a:off x="3758850"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false" rot="0">
            <a:off x="9290035"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9852185" y="2434253"/>
            <a:ext cx="7387774" cy="6242801"/>
            <a:chOff x="0" y="0"/>
            <a:chExt cx="1945751" cy="1644194"/>
          </a:xfrm>
        </p:grpSpPr>
        <p:sp>
          <p:nvSpPr>
            <p:cNvPr name="Freeform 26" id="26"/>
            <p:cNvSpPr/>
            <p:nvPr/>
          </p:nvSpPr>
          <p:spPr>
            <a:xfrm flipH="false" flipV="false" rot="0">
              <a:off x="0" y="0"/>
              <a:ext cx="1945751" cy="1644194"/>
            </a:xfrm>
            <a:custGeom>
              <a:avLst/>
              <a:gdLst/>
              <a:ahLst/>
              <a:cxnLst/>
              <a:rect r="r" b="b" t="t" l="l"/>
              <a:pathLst>
                <a:path h="1644194" w="1945751">
                  <a:moveTo>
                    <a:pt x="29342" y="0"/>
                  </a:moveTo>
                  <a:lnTo>
                    <a:pt x="1916409" y="0"/>
                  </a:lnTo>
                  <a:cubicBezTo>
                    <a:pt x="1924191" y="0"/>
                    <a:pt x="1931654" y="3091"/>
                    <a:pt x="1937157" y="8594"/>
                  </a:cubicBezTo>
                  <a:cubicBezTo>
                    <a:pt x="1942660" y="14097"/>
                    <a:pt x="1945751" y="21560"/>
                    <a:pt x="1945751" y="29342"/>
                  </a:cubicBezTo>
                  <a:lnTo>
                    <a:pt x="1945751" y="1614852"/>
                  </a:lnTo>
                  <a:cubicBezTo>
                    <a:pt x="1945751" y="1622634"/>
                    <a:pt x="1942660" y="1630098"/>
                    <a:pt x="1937157" y="1635600"/>
                  </a:cubicBezTo>
                  <a:cubicBezTo>
                    <a:pt x="1931654" y="1641103"/>
                    <a:pt x="1924191" y="1644194"/>
                    <a:pt x="1916409" y="1644194"/>
                  </a:cubicBezTo>
                  <a:lnTo>
                    <a:pt x="29342" y="1644194"/>
                  </a:lnTo>
                  <a:cubicBezTo>
                    <a:pt x="21560" y="1644194"/>
                    <a:pt x="14097" y="1641103"/>
                    <a:pt x="8594" y="1635600"/>
                  </a:cubicBezTo>
                  <a:cubicBezTo>
                    <a:pt x="3091" y="1630098"/>
                    <a:pt x="0" y="1622634"/>
                    <a:pt x="0" y="1614852"/>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27" id="27"/>
            <p:cNvSpPr txBox="true"/>
            <p:nvPr/>
          </p:nvSpPr>
          <p:spPr>
            <a:xfrm>
              <a:off x="0" y="47625"/>
              <a:ext cx="1945751" cy="1596569"/>
            </a:xfrm>
            <a:prstGeom prst="rect">
              <a:avLst/>
            </a:prstGeom>
          </p:spPr>
          <p:txBody>
            <a:bodyPr anchor="ctr" rtlCol="false" tIns="50800" lIns="50800" bIns="50800" rIns="50800"/>
            <a:lstStyle/>
            <a:p>
              <a:pPr algn="ctr">
                <a:lnSpc>
                  <a:spcPts val="2011"/>
                </a:lnSpc>
              </a:pPr>
            </a:p>
          </p:txBody>
        </p:sp>
      </p:grpSp>
      <p:grpSp>
        <p:nvGrpSpPr>
          <p:cNvPr name="Group 28" id="28"/>
          <p:cNvGrpSpPr/>
          <p:nvPr/>
        </p:nvGrpSpPr>
        <p:grpSpPr>
          <a:xfrm rot="0">
            <a:off x="9557433" y="2434253"/>
            <a:ext cx="703243" cy="7032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31" id="31"/>
          <p:cNvSpPr txBox="true"/>
          <p:nvPr/>
        </p:nvSpPr>
        <p:spPr>
          <a:xfrm rot="0">
            <a:off x="10504625" y="2689003"/>
            <a:ext cx="6082894" cy="59880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Load into Fact_Label (fact table, not a dim</a:t>
            </a:r>
            <a:r>
              <a:rPr lang="en-US" sz="1999">
                <a:solidFill>
                  <a:srgbClr val="FFFFFF"/>
                </a:solidFill>
                <a:latin typeface="Cy Grotesk Key"/>
                <a:ea typeface="Cy Grotesk Key"/>
                <a:cs typeface="Cy Grotesk Key"/>
                <a:sym typeface="Cy Grotesk Key"/>
              </a:rPr>
              <a:t>ension):</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Cleaned Spark DF is converted to pandas and loaded into DW Fact_Label.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J</a:t>
            </a:r>
            <a:r>
              <a:rPr lang="en-US" sz="1999">
                <a:solidFill>
                  <a:srgbClr val="FFFFFF"/>
                </a:solidFill>
                <a:latin typeface="Cy Grotesk Key"/>
                <a:ea typeface="Cy Grotesk Key"/>
                <a:cs typeface="Cy Grotesk Key"/>
                <a:sym typeface="Cy Grotesk Key"/>
              </a:rPr>
              <a:t>oins with:</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Dim_Driver (via driver_id → driver_key).</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Dim_Sensor (via booking_id → sensor_key).</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Us</a:t>
            </a:r>
            <a:r>
              <a:rPr lang="en-US" sz="1999">
                <a:solidFill>
                  <a:srgbClr val="FFFFFF"/>
                </a:solidFill>
                <a:latin typeface="Cy Grotesk Key"/>
                <a:ea typeface="Cy Grotesk Key"/>
                <a:cs typeface="Cy Grotesk Key"/>
                <a:sym typeface="Cy Grotesk Key"/>
              </a:rPr>
              <a:t>es booking_id as a business key with ON DUPLICATE KEY UPDATE:</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New trips → inserted with a new label_key (AUTO_INCREMENT).</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Existing trips → label updated, not duplicated.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This is different from driver/sensor, which mainly append new dimension rows.</a:t>
            </a:r>
          </a:p>
          <a:p>
            <a:pPr algn="l">
              <a:lnSpc>
                <a:spcPts val="2799"/>
              </a:lnSpc>
              <a:spcBef>
                <a:spcPct val="0"/>
              </a:spcBef>
            </a:pPr>
          </a:p>
        </p:txBody>
      </p:sp>
      <p:sp>
        <p:nvSpPr>
          <p:cNvPr name="TextBox 32" id="32"/>
          <p:cNvSpPr txBox="true"/>
          <p:nvPr/>
        </p:nvSpPr>
        <p:spPr>
          <a:xfrm rot="0">
            <a:off x="9779107"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5673011"/>
            <a:chOff x="0" y="0"/>
            <a:chExt cx="1945751" cy="1494126"/>
          </a:xfrm>
        </p:grpSpPr>
        <p:sp>
          <p:nvSpPr>
            <p:cNvPr name="Freeform 7" id="7"/>
            <p:cNvSpPr/>
            <p:nvPr/>
          </p:nvSpPr>
          <p:spPr>
            <a:xfrm flipH="false" flipV="false" rot="0">
              <a:off x="0" y="0"/>
              <a:ext cx="1945751" cy="1494126"/>
            </a:xfrm>
            <a:custGeom>
              <a:avLst/>
              <a:gdLst/>
              <a:ahLst/>
              <a:cxnLst/>
              <a:rect r="r" b="b" t="t" l="l"/>
              <a:pathLst>
                <a:path h="1494126" w="1945751">
                  <a:moveTo>
                    <a:pt x="29342" y="0"/>
                  </a:moveTo>
                  <a:lnTo>
                    <a:pt x="1916409" y="0"/>
                  </a:lnTo>
                  <a:cubicBezTo>
                    <a:pt x="1924191" y="0"/>
                    <a:pt x="1931654" y="3091"/>
                    <a:pt x="1937157" y="8594"/>
                  </a:cubicBezTo>
                  <a:cubicBezTo>
                    <a:pt x="1942660" y="14097"/>
                    <a:pt x="1945751" y="21560"/>
                    <a:pt x="1945751" y="29342"/>
                  </a:cubicBezTo>
                  <a:lnTo>
                    <a:pt x="1945751" y="1464784"/>
                  </a:lnTo>
                  <a:cubicBezTo>
                    <a:pt x="1945751" y="1472566"/>
                    <a:pt x="1942660" y="1480029"/>
                    <a:pt x="1937157" y="1485532"/>
                  </a:cubicBezTo>
                  <a:cubicBezTo>
                    <a:pt x="1931654" y="1491035"/>
                    <a:pt x="1924191" y="1494126"/>
                    <a:pt x="1916409" y="1494126"/>
                  </a:cubicBezTo>
                  <a:lnTo>
                    <a:pt x="29342" y="1494126"/>
                  </a:lnTo>
                  <a:cubicBezTo>
                    <a:pt x="21560" y="1494126"/>
                    <a:pt x="14097" y="1491035"/>
                    <a:pt x="8594" y="1485532"/>
                  </a:cubicBezTo>
                  <a:cubicBezTo>
                    <a:pt x="3091" y="1480029"/>
                    <a:pt x="0" y="1472566"/>
                    <a:pt x="0" y="1464784"/>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1446501"/>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752839" y="2434253"/>
            <a:ext cx="703243" cy="7032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2" id="12"/>
          <p:cNvSpPr txBox="true"/>
          <p:nvPr/>
        </p:nvSpPr>
        <p:spPr>
          <a:xfrm rot="0">
            <a:off x="1307987" y="1047750"/>
            <a:ext cx="8249446" cy="12268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Sensor: Data Cleaning (Dim_Sensor)</a:t>
            </a:r>
          </a:p>
        </p:txBody>
      </p:sp>
      <p:sp>
        <p:nvSpPr>
          <p:cNvPr name="TextBox 13" id="13"/>
          <p:cNvSpPr txBox="true"/>
          <p:nvPr/>
        </p:nvSpPr>
        <p:spPr>
          <a:xfrm rot="0">
            <a:off x="1700030" y="2689003"/>
            <a:ext cx="6082894" cy="5283200"/>
          </a:xfrm>
          <a:prstGeom prst="rect">
            <a:avLst/>
          </a:prstGeom>
        </p:spPr>
        <p:txBody>
          <a:bodyPr anchor="t" rtlCol="false" tIns="0" lIns="0" bIns="0" rIns="0">
            <a:spAutoFit/>
          </a:bodyPr>
          <a:lstStyle/>
          <a:p>
            <a:pPr algn="l">
              <a:lnSpc>
                <a:spcPts val="2799"/>
              </a:lnSpc>
            </a:pPr>
            <a:r>
              <a:rPr lang="en-US" sz="1999">
                <a:solidFill>
                  <a:srgbClr val="FFFFFF"/>
                </a:solidFill>
                <a:latin typeface="Cy Grotesk Key"/>
                <a:ea typeface="Cy Grotesk Key"/>
                <a:cs typeface="Cy Grotesk Key"/>
                <a:sym typeface="Cy Grotesk Key"/>
              </a:rPr>
              <a:t>Similarities with Driver cleaning:</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General pipeline: extract → audit → drop exact duplicates → cast dtypes → r</a:t>
            </a:r>
            <a:r>
              <a:rPr lang="en-US" sz="1999">
                <a:solidFill>
                  <a:srgbClr val="FFFFFF"/>
                </a:solidFill>
                <a:latin typeface="Cy Grotesk Key"/>
                <a:ea typeface="Cy Grotesk Key"/>
                <a:cs typeface="Cy Grotesk Key"/>
                <a:sym typeface="Cy Grotesk Key"/>
              </a:rPr>
              <a:t>ule-based valida</a:t>
            </a:r>
            <a:r>
              <a:rPr lang="en-US" sz="1999">
                <a:solidFill>
                  <a:srgbClr val="FFFFFF"/>
                </a:solidFill>
                <a:latin typeface="Cy Grotesk Key"/>
                <a:ea typeface="Cy Grotesk Key"/>
                <a:cs typeface="Cy Grotesk Key"/>
                <a:sym typeface="Cy Grotesk Key"/>
              </a:rPr>
              <a:t>tion → handle missing → flag outliers → feature engineering → audit → load to warehouse.</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Outlier handling: Both driver and sensor pipelines:</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Use univariate IQR-based flags per numeric column.</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Us</a:t>
            </a:r>
            <a:r>
              <a:rPr lang="en-US" sz="1999">
                <a:solidFill>
                  <a:srgbClr val="FFFFFF"/>
                </a:solidFill>
                <a:latin typeface="Cy Grotesk Key"/>
                <a:ea typeface="Cy Grotesk Key"/>
                <a:cs typeface="Cy Grotesk Key"/>
                <a:sym typeface="Cy Grotesk Key"/>
              </a:rPr>
              <a:t>e PCA reconstruction error to compute a multivariate _mv_score and _mv_is_outlier flag (for documentation / later use, not hard-deleting rows).</a:t>
            </a:r>
          </a:p>
          <a:p>
            <a:pPr algn="l">
              <a:lnSpc>
                <a:spcPts val="2799"/>
              </a:lnSpc>
              <a:spcBef>
                <a:spcPct val="0"/>
              </a:spcBef>
            </a:pPr>
          </a:p>
        </p:txBody>
      </p:sp>
      <p:sp>
        <p:nvSpPr>
          <p:cNvPr name="TextBox 14" id="14"/>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1</a:t>
            </a:r>
          </a:p>
        </p:txBody>
      </p:sp>
      <p:sp>
        <p:nvSpPr>
          <p:cNvPr name="Freeform 15" id="15"/>
          <p:cNvSpPr/>
          <p:nvPr/>
        </p:nvSpPr>
        <p:spPr>
          <a:xfrm flipH="false" flipV="false" rot="0">
            <a:off x="3778191" y="-6583051"/>
            <a:ext cx="8804594" cy="8804594"/>
          </a:xfrm>
          <a:custGeom>
            <a:avLst/>
            <a:gdLst/>
            <a:ahLst/>
            <a:cxnLst/>
            <a:rect r="r" b="b" t="t" l="l"/>
            <a:pathLst>
              <a:path h="8804594" w="8804594">
                <a:moveTo>
                  <a:pt x="0" y="0"/>
                </a:moveTo>
                <a:lnTo>
                  <a:pt x="8804595" y="0"/>
                </a:lnTo>
                <a:lnTo>
                  <a:pt x="8804595"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9309376" y="-2796537"/>
            <a:ext cx="7139284" cy="9379588"/>
          </a:xfrm>
          <a:custGeom>
            <a:avLst/>
            <a:gdLst/>
            <a:ahLst/>
            <a:cxnLst/>
            <a:rect r="r" b="b" t="t" l="l"/>
            <a:pathLst>
              <a:path h="9379588" w="7139284">
                <a:moveTo>
                  <a:pt x="7139284" y="0"/>
                </a:moveTo>
                <a:lnTo>
                  <a:pt x="0" y="0"/>
                </a:lnTo>
                <a:lnTo>
                  <a:pt x="0" y="9379588"/>
                </a:lnTo>
                <a:lnTo>
                  <a:pt x="7139284" y="9379588"/>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9871526" y="518771"/>
            <a:ext cx="7387774" cy="5537951"/>
            <a:chOff x="0" y="0"/>
            <a:chExt cx="1945751" cy="1458555"/>
          </a:xfrm>
        </p:grpSpPr>
        <p:sp>
          <p:nvSpPr>
            <p:cNvPr name="Freeform 18" id="18"/>
            <p:cNvSpPr/>
            <p:nvPr/>
          </p:nvSpPr>
          <p:spPr>
            <a:xfrm flipH="false" flipV="false" rot="0">
              <a:off x="0" y="0"/>
              <a:ext cx="1945751" cy="1458555"/>
            </a:xfrm>
            <a:custGeom>
              <a:avLst/>
              <a:gdLst/>
              <a:ahLst/>
              <a:cxnLst/>
              <a:rect r="r" b="b" t="t" l="l"/>
              <a:pathLst>
                <a:path h="1458555" w="1945751">
                  <a:moveTo>
                    <a:pt x="29342" y="0"/>
                  </a:moveTo>
                  <a:lnTo>
                    <a:pt x="1916409" y="0"/>
                  </a:lnTo>
                  <a:cubicBezTo>
                    <a:pt x="1924191" y="0"/>
                    <a:pt x="1931654" y="3091"/>
                    <a:pt x="1937157" y="8594"/>
                  </a:cubicBezTo>
                  <a:cubicBezTo>
                    <a:pt x="1942660" y="14097"/>
                    <a:pt x="1945751" y="21560"/>
                    <a:pt x="1945751" y="29342"/>
                  </a:cubicBezTo>
                  <a:lnTo>
                    <a:pt x="1945751" y="1429213"/>
                  </a:lnTo>
                  <a:cubicBezTo>
                    <a:pt x="1945751" y="1436995"/>
                    <a:pt x="1942660" y="1444458"/>
                    <a:pt x="1937157" y="1449961"/>
                  </a:cubicBezTo>
                  <a:cubicBezTo>
                    <a:pt x="1931654" y="1455463"/>
                    <a:pt x="1924191" y="1458555"/>
                    <a:pt x="1916409" y="1458555"/>
                  </a:cubicBezTo>
                  <a:lnTo>
                    <a:pt x="29342" y="1458555"/>
                  </a:lnTo>
                  <a:cubicBezTo>
                    <a:pt x="21560" y="1458555"/>
                    <a:pt x="14097" y="1455463"/>
                    <a:pt x="8594" y="1449961"/>
                  </a:cubicBezTo>
                  <a:cubicBezTo>
                    <a:pt x="3091" y="1444458"/>
                    <a:pt x="0" y="1436995"/>
                    <a:pt x="0" y="1429213"/>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9" id="19"/>
            <p:cNvSpPr txBox="true"/>
            <p:nvPr/>
          </p:nvSpPr>
          <p:spPr>
            <a:xfrm>
              <a:off x="0" y="47625"/>
              <a:ext cx="1945751" cy="1410930"/>
            </a:xfrm>
            <a:prstGeom prst="rect">
              <a:avLst/>
            </a:prstGeom>
          </p:spPr>
          <p:txBody>
            <a:bodyPr anchor="ctr" rtlCol="false" tIns="50800" lIns="50800" bIns="50800" rIns="50800"/>
            <a:lstStyle/>
            <a:p>
              <a:pPr algn="ctr">
                <a:lnSpc>
                  <a:spcPts val="2011"/>
                </a:lnSpc>
              </a:pPr>
            </a:p>
          </p:txBody>
        </p:sp>
      </p:grpSp>
      <p:grpSp>
        <p:nvGrpSpPr>
          <p:cNvPr name="Group 20" id="20"/>
          <p:cNvGrpSpPr/>
          <p:nvPr/>
        </p:nvGrpSpPr>
        <p:grpSpPr>
          <a:xfrm rot="0">
            <a:off x="9576775" y="518771"/>
            <a:ext cx="703243" cy="70324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3" id="23"/>
          <p:cNvSpPr txBox="true"/>
          <p:nvPr/>
        </p:nvSpPr>
        <p:spPr>
          <a:xfrm rot="0">
            <a:off x="10523966" y="773521"/>
            <a:ext cx="6082894" cy="52832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Richer schema &amp; i</a:t>
            </a:r>
            <a:r>
              <a:rPr lang="en-US" sz="1999">
                <a:solidFill>
                  <a:srgbClr val="FFFFFF"/>
                </a:solidFill>
                <a:latin typeface="Cy Grotesk Key"/>
                <a:ea typeface="Cy Grotesk Key"/>
                <a:cs typeface="Cy Grotesk Key"/>
                <a:sym typeface="Cy Grotesk Key"/>
              </a:rPr>
              <a:t>ngestion path</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Source: staging.sensor_data_source where cleaned_date IS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Loaded via MySQL → pandas (typed) → Spark instead of direct Spark JDBC.</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Colu</a:t>
            </a:r>
            <a:r>
              <a:rPr lang="en-US" sz="1999">
                <a:solidFill>
                  <a:srgbClr val="FFFFFF"/>
                </a:solidFill>
                <a:latin typeface="Cy Grotesk Key"/>
                <a:ea typeface="Cy Grotesk Key"/>
                <a:cs typeface="Cy Grotesk Key"/>
                <a:sym typeface="Cy Grotesk Key"/>
              </a:rPr>
              <a:t>mns include:</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IDs/key</a:t>
            </a:r>
            <a:r>
              <a:rPr lang="en-US" sz="1999">
                <a:solidFill>
                  <a:srgbClr val="FFFFFF"/>
                </a:solidFill>
                <a:latin typeface="Cy Grotesk Key"/>
                <a:ea typeface="Cy Grotesk Key"/>
                <a:cs typeface="Cy Grotesk Key"/>
                <a:sym typeface="Cy Grotesk Key"/>
              </a:rPr>
              <a:t>s: csv_ind</a:t>
            </a:r>
            <a:r>
              <a:rPr lang="en-US" sz="1999">
                <a:solidFill>
                  <a:srgbClr val="FFFFFF"/>
                </a:solidFill>
                <a:latin typeface="Cy Grotesk Key"/>
                <a:ea typeface="Cy Grotesk Key"/>
                <a:cs typeface="Cy Grotesk Key"/>
                <a:sym typeface="Cy Grotesk Key"/>
              </a:rPr>
              <a:t>ex, booking_id</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GPS: accuracy, bearing</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Accelerometer: acceleration_x, acceleration_y, acceleration_z</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Gyroscope: gyro_x, gyro_y, gyro_z</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Temporal/speed: second, speed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Expl</a:t>
            </a:r>
            <a:r>
              <a:rPr lang="en-US" sz="1999">
                <a:solidFill>
                  <a:srgbClr val="FFFFFF"/>
                </a:solidFill>
                <a:latin typeface="Cy Grotesk Key"/>
                <a:ea typeface="Cy Grotesk Key"/>
                <a:cs typeface="Cy Grotesk Key"/>
                <a:sym typeface="Cy Grotesk Key"/>
              </a:rPr>
              <a:t>icit dtype fixing in pandas before converting to Spark.</a:t>
            </a:r>
          </a:p>
          <a:p>
            <a:pPr algn="l">
              <a:lnSpc>
                <a:spcPts val="2799"/>
              </a:lnSpc>
              <a:spcBef>
                <a:spcPct val="0"/>
              </a:spcBef>
            </a:pPr>
          </a:p>
        </p:txBody>
      </p:sp>
      <p:sp>
        <p:nvSpPr>
          <p:cNvPr name="TextBox 24" id="24"/>
          <p:cNvSpPr txBox="true"/>
          <p:nvPr/>
        </p:nvSpPr>
        <p:spPr>
          <a:xfrm rot="0">
            <a:off x="9800953" y="625597"/>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2</a:t>
            </a:r>
          </a:p>
        </p:txBody>
      </p:sp>
      <p:grpSp>
        <p:nvGrpSpPr>
          <p:cNvPr name="Group 25" id="25"/>
          <p:cNvGrpSpPr/>
          <p:nvPr/>
        </p:nvGrpSpPr>
        <p:grpSpPr>
          <a:xfrm rot="0">
            <a:off x="9871526" y="6583051"/>
            <a:ext cx="8085585" cy="3411362"/>
            <a:chOff x="0" y="0"/>
            <a:chExt cx="2129537" cy="898466"/>
          </a:xfrm>
        </p:grpSpPr>
        <p:sp>
          <p:nvSpPr>
            <p:cNvPr name="Freeform 26" id="26"/>
            <p:cNvSpPr/>
            <p:nvPr/>
          </p:nvSpPr>
          <p:spPr>
            <a:xfrm flipH="false" flipV="false" rot="0">
              <a:off x="0" y="0"/>
              <a:ext cx="2129537" cy="898466"/>
            </a:xfrm>
            <a:custGeom>
              <a:avLst/>
              <a:gdLst/>
              <a:ahLst/>
              <a:cxnLst/>
              <a:rect r="r" b="b" t="t" l="l"/>
              <a:pathLst>
                <a:path h="898466" w="2129537">
                  <a:moveTo>
                    <a:pt x="26810" y="0"/>
                  </a:moveTo>
                  <a:lnTo>
                    <a:pt x="2102727" y="0"/>
                  </a:lnTo>
                  <a:cubicBezTo>
                    <a:pt x="2117534" y="0"/>
                    <a:pt x="2129537" y="12003"/>
                    <a:pt x="2129537" y="26810"/>
                  </a:cubicBezTo>
                  <a:lnTo>
                    <a:pt x="2129537" y="871656"/>
                  </a:lnTo>
                  <a:cubicBezTo>
                    <a:pt x="2129537" y="886463"/>
                    <a:pt x="2117534" y="898466"/>
                    <a:pt x="2102727" y="898466"/>
                  </a:cubicBezTo>
                  <a:lnTo>
                    <a:pt x="26810" y="898466"/>
                  </a:lnTo>
                  <a:cubicBezTo>
                    <a:pt x="12003" y="898466"/>
                    <a:pt x="0" y="886463"/>
                    <a:pt x="0" y="871656"/>
                  </a:cubicBezTo>
                  <a:lnTo>
                    <a:pt x="0" y="26810"/>
                  </a:lnTo>
                  <a:cubicBezTo>
                    <a:pt x="0" y="12003"/>
                    <a:pt x="12003" y="0"/>
                    <a:pt x="26810" y="0"/>
                  </a:cubicBezTo>
                  <a:close/>
                </a:path>
              </a:pathLst>
            </a:custGeom>
            <a:solidFill>
              <a:srgbClr val="3168CD"/>
            </a:solidFill>
          </p:spPr>
        </p:sp>
        <p:sp>
          <p:nvSpPr>
            <p:cNvPr name="TextBox 27" id="27"/>
            <p:cNvSpPr txBox="true"/>
            <p:nvPr/>
          </p:nvSpPr>
          <p:spPr>
            <a:xfrm>
              <a:off x="0" y="47625"/>
              <a:ext cx="2129537" cy="850841"/>
            </a:xfrm>
            <a:prstGeom prst="rect">
              <a:avLst/>
            </a:prstGeom>
          </p:spPr>
          <p:txBody>
            <a:bodyPr anchor="ctr" rtlCol="false" tIns="50800" lIns="50800" bIns="50800" rIns="50800"/>
            <a:lstStyle/>
            <a:p>
              <a:pPr algn="ctr">
                <a:lnSpc>
                  <a:spcPts val="2011"/>
                </a:lnSpc>
              </a:pPr>
            </a:p>
          </p:txBody>
        </p:sp>
      </p:grpSp>
      <p:grpSp>
        <p:nvGrpSpPr>
          <p:cNvPr name="Group 28" id="28"/>
          <p:cNvGrpSpPr/>
          <p:nvPr/>
        </p:nvGrpSpPr>
        <p:grpSpPr>
          <a:xfrm rot="0">
            <a:off x="9579280" y="6521767"/>
            <a:ext cx="703243" cy="7032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31" id="31"/>
          <p:cNvSpPr txBox="true"/>
          <p:nvPr/>
        </p:nvSpPr>
        <p:spPr>
          <a:xfrm rot="0">
            <a:off x="9800953" y="6628593"/>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3</a:t>
            </a:r>
          </a:p>
        </p:txBody>
      </p:sp>
      <p:sp>
        <p:nvSpPr>
          <p:cNvPr name="TextBox 32" id="32"/>
          <p:cNvSpPr txBox="true"/>
          <p:nvPr/>
        </p:nvSpPr>
        <p:spPr>
          <a:xfrm rot="0">
            <a:off x="10523966" y="6825763"/>
            <a:ext cx="7185886" cy="316865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Rule-based validatio</a:t>
            </a:r>
            <a:r>
              <a:rPr lang="en-US" sz="1999">
                <a:solidFill>
                  <a:srgbClr val="FFFFFF"/>
                </a:solidFill>
                <a:latin typeface="Cy Grotesk Key"/>
                <a:ea typeface="Cy Grotesk Key"/>
                <a:cs typeface="Cy Grotesk Key"/>
                <a:sym typeface="Cy Grotesk Key"/>
              </a:rPr>
              <a:t>n focuses on physical constraints (not demographics):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Invalid accuracy (&lt; 0) → set to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Inv</a:t>
            </a:r>
            <a:r>
              <a:rPr lang="en-US" sz="1999">
                <a:solidFill>
                  <a:srgbClr val="FFFFFF"/>
                </a:solidFill>
                <a:latin typeface="Cy Grotesk Key"/>
                <a:ea typeface="Cy Grotesk Key"/>
                <a:cs typeface="Cy Grotesk Key"/>
                <a:sym typeface="Cy Grotesk Key"/>
              </a:rPr>
              <a:t>alid bearing (&lt; 0 or &gt; 360) →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Invalid speed (&lt; 0) →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I</a:t>
            </a:r>
            <a:r>
              <a:rPr lang="en-US" sz="1999">
                <a:solidFill>
                  <a:srgbClr val="FFFFFF"/>
                </a:solidFill>
                <a:latin typeface="Cy Grotesk Key"/>
                <a:ea typeface="Cy Grotesk Key"/>
                <a:cs typeface="Cy Grotesk Key"/>
                <a:sym typeface="Cy Grotesk Key"/>
              </a:rPr>
              <a:t>nvalid se</a:t>
            </a:r>
            <a:r>
              <a:rPr lang="en-US" sz="1999">
                <a:solidFill>
                  <a:srgbClr val="FFFFFF"/>
                </a:solidFill>
                <a:latin typeface="Cy Grotesk Key"/>
                <a:ea typeface="Cy Grotesk Key"/>
                <a:cs typeface="Cy Grotesk Key"/>
                <a:sym typeface="Cy Grotesk Key"/>
              </a:rPr>
              <a:t>c</a:t>
            </a:r>
            <a:r>
              <a:rPr lang="en-US" sz="1999">
                <a:solidFill>
                  <a:srgbClr val="FFFFFF"/>
                </a:solidFill>
                <a:latin typeface="Cy Grotesk Key"/>
                <a:ea typeface="Cy Grotesk Key"/>
                <a:cs typeface="Cy Grotesk Key"/>
                <a:sym typeface="Cy Grotesk Key"/>
              </a:rPr>
              <a:t>ond (&lt; 0) → NULL.</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Un</a:t>
            </a:r>
            <a:r>
              <a:rPr lang="en-US" sz="1999">
                <a:solidFill>
                  <a:srgbClr val="FFFFFF"/>
                </a:solidFill>
                <a:latin typeface="Cy Grotesk Key"/>
                <a:ea typeface="Cy Grotesk Key"/>
                <a:cs typeface="Cy Grotesk Key"/>
                <a:sym typeface="Cy Grotesk Key"/>
              </a:rPr>
              <a:t>like Driver cleaning, there’s no gender/DOB </a:t>
            </a:r>
            <a:r>
              <a:rPr lang="en-US" sz="1999">
                <a:solidFill>
                  <a:srgbClr val="FFFFFF"/>
                </a:solidFill>
                <a:latin typeface="Cy Grotesk Key"/>
                <a:ea typeface="Cy Grotesk Key"/>
                <a:cs typeface="Cy Grotesk Key"/>
                <a:sym typeface="Cy Grotesk Key"/>
              </a:rPr>
              <a:t>log</a:t>
            </a:r>
            <a:r>
              <a:rPr lang="en-US" sz="1999">
                <a:solidFill>
                  <a:srgbClr val="FFFFFF"/>
                </a:solidFill>
                <a:latin typeface="Cy Grotesk Key"/>
                <a:ea typeface="Cy Grotesk Key"/>
                <a:cs typeface="Cy Grotesk Key"/>
                <a:sym typeface="Cy Grotesk Key"/>
              </a:rPr>
              <a:t>ic here; it’s all about physical sensor ranges.</a:t>
            </a:r>
          </a:p>
          <a:p>
            <a:pPr algn="l">
              <a:lnSpc>
                <a:spcPts val="27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45744" y="-4667569"/>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485441" y="-881056"/>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15987">
            <a:off x="296401" y="7552637"/>
            <a:ext cx="9208152" cy="5468726"/>
          </a:xfrm>
          <a:custGeom>
            <a:avLst/>
            <a:gdLst/>
            <a:ahLst/>
            <a:cxnLst/>
            <a:rect r="r" b="b" t="t" l="l"/>
            <a:pathLst>
              <a:path h="5468726" w="9208152">
                <a:moveTo>
                  <a:pt x="0" y="0"/>
                </a:moveTo>
                <a:lnTo>
                  <a:pt x="9208152" y="0"/>
                </a:lnTo>
                <a:lnTo>
                  <a:pt x="9208152" y="5468726"/>
                </a:lnTo>
                <a:lnTo>
                  <a:pt x="0" y="5468726"/>
                </a:lnTo>
                <a:lnTo>
                  <a:pt x="0" y="0"/>
                </a:lnTo>
                <a:close/>
              </a:path>
            </a:pathLst>
          </a:custGeom>
          <a:blipFill>
            <a:blip r:embed="rId8">
              <a:alphaModFix amt="18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47591" y="2434253"/>
            <a:ext cx="7387774" cy="5020220"/>
            <a:chOff x="0" y="0"/>
            <a:chExt cx="1945751" cy="1322198"/>
          </a:xfrm>
        </p:grpSpPr>
        <p:sp>
          <p:nvSpPr>
            <p:cNvPr name="Freeform 7" id="7"/>
            <p:cNvSpPr/>
            <p:nvPr/>
          </p:nvSpPr>
          <p:spPr>
            <a:xfrm flipH="false" flipV="false" rot="0">
              <a:off x="0" y="0"/>
              <a:ext cx="1945751" cy="1322198"/>
            </a:xfrm>
            <a:custGeom>
              <a:avLst/>
              <a:gdLst/>
              <a:ahLst/>
              <a:cxnLst/>
              <a:rect r="r" b="b" t="t" l="l"/>
              <a:pathLst>
                <a:path h="1322198" w="1945751">
                  <a:moveTo>
                    <a:pt x="29342" y="0"/>
                  </a:moveTo>
                  <a:lnTo>
                    <a:pt x="1916409" y="0"/>
                  </a:lnTo>
                  <a:cubicBezTo>
                    <a:pt x="1924191" y="0"/>
                    <a:pt x="1931654" y="3091"/>
                    <a:pt x="1937157" y="8594"/>
                  </a:cubicBezTo>
                  <a:cubicBezTo>
                    <a:pt x="1942660" y="14097"/>
                    <a:pt x="1945751" y="21560"/>
                    <a:pt x="1945751" y="29342"/>
                  </a:cubicBezTo>
                  <a:lnTo>
                    <a:pt x="1945751" y="1292856"/>
                  </a:lnTo>
                  <a:cubicBezTo>
                    <a:pt x="1945751" y="1300638"/>
                    <a:pt x="1942660" y="1308101"/>
                    <a:pt x="1937157" y="1313604"/>
                  </a:cubicBezTo>
                  <a:cubicBezTo>
                    <a:pt x="1931654" y="1319106"/>
                    <a:pt x="1924191" y="1322198"/>
                    <a:pt x="1916409" y="1322198"/>
                  </a:cubicBezTo>
                  <a:lnTo>
                    <a:pt x="29342" y="1322198"/>
                  </a:lnTo>
                  <a:cubicBezTo>
                    <a:pt x="21560" y="1322198"/>
                    <a:pt x="14097" y="1319106"/>
                    <a:pt x="8594" y="1313604"/>
                  </a:cubicBezTo>
                  <a:cubicBezTo>
                    <a:pt x="3091" y="1308101"/>
                    <a:pt x="0" y="1300638"/>
                    <a:pt x="0" y="1292856"/>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8" id="8"/>
            <p:cNvSpPr txBox="true"/>
            <p:nvPr/>
          </p:nvSpPr>
          <p:spPr>
            <a:xfrm>
              <a:off x="0" y="47625"/>
              <a:ext cx="1945751" cy="1274573"/>
            </a:xfrm>
            <a:prstGeom prst="rect">
              <a:avLst/>
            </a:prstGeom>
          </p:spPr>
          <p:txBody>
            <a:bodyPr anchor="ctr" rtlCol="false" tIns="50800" lIns="50800" bIns="50800" rIns="50800"/>
            <a:lstStyle/>
            <a:p>
              <a:pPr algn="ctr">
                <a:lnSpc>
                  <a:spcPts val="2011"/>
                </a:lnSpc>
              </a:pPr>
            </a:p>
          </p:txBody>
        </p:sp>
      </p:grpSp>
      <p:grpSp>
        <p:nvGrpSpPr>
          <p:cNvPr name="Group 9" id="9"/>
          <p:cNvGrpSpPr/>
          <p:nvPr/>
        </p:nvGrpSpPr>
        <p:grpSpPr>
          <a:xfrm rot="0">
            <a:off x="752839" y="2434253"/>
            <a:ext cx="703243" cy="7032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12" id="12"/>
          <p:cNvSpPr txBox="true"/>
          <p:nvPr/>
        </p:nvSpPr>
        <p:spPr>
          <a:xfrm rot="0">
            <a:off x="1307987" y="1047750"/>
            <a:ext cx="8249446" cy="1226820"/>
          </a:xfrm>
          <a:prstGeom prst="rect">
            <a:avLst/>
          </a:prstGeom>
        </p:spPr>
        <p:txBody>
          <a:bodyPr anchor="t" rtlCol="false" tIns="0" lIns="0" bIns="0" rIns="0">
            <a:spAutoFit/>
          </a:bodyPr>
          <a:lstStyle/>
          <a:p>
            <a:pPr algn="l">
              <a:lnSpc>
                <a:spcPts val="4830"/>
              </a:lnSpc>
            </a:pPr>
            <a:r>
              <a:rPr lang="en-US" sz="4200">
                <a:solidFill>
                  <a:srgbClr val="FFFFFF"/>
                </a:solidFill>
                <a:latin typeface="Pattanakarn"/>
                <a:ea typeface="Pattanakarn"/>
                <a:cs typeface="Pattanakarn"/>
                <a:sym typeface="Pattanakarn"/>
              </a:rPr>
              <a:t>Sensor: Data Cleaning (Dim_Sensor)</a:t>
            </a:r>
          </a:p>
        </p:txBody>
      </p:sp>
      <p:sp>
        <p:nvSpPr>
          <p:cNvPr name="TextBox 13" id="13"/>
          <p:cNvSpPr txBox="true"/>
          <p:nvPr/>
        </p:nvSpPr>
        <p:spPr>
          <a:xfrm rot="0">
            <a:off x="1700030" y="2689003"/>
            <a:ext cx="6082894" cy="4578350"/>
          </a:xfrm>
          <a:prstGeom prst="rect">
            <a:avLst/>
          </a:prstGeom>
        </p:spPr>
        <p:txBody>
          <a:bodyPr anchor="t" rtlCol="false" tIns="0" lIns="0" bIns="0" rIns="0">
            <a:spAutoFit/>
          </a:bodyPr>
          <a:lstStyle/>
          <a:p>
            <a:pPr algn="l">
              <a:lnSpc>
                <a:spcPts val="2799"/>
              </a:lnSpc>
            </a:pPr>
            <a:r>
              <a:rPr lang="en-US" sz="1999">
                <a:solidFill>
                  <a:srgbClr val="FFFFFF"/>
                </a:solidFill>
                <a:latin typeface="Cy Grotesk Key"/>
                <a:ea typeface="Cy Grotesk Key"/>
                <a:cs typeface="Cy Grotesk Key"/>
                <a:sym typeface="Cy Grotesk Key"/>
              </a:rPr>
              <a:t>Missing data handling is tol</a:t>
            </a:r>
            <a:r>
              <a:rPr lang="en-US" sz="1999">
                <a:solidFill>
                  <a:srgbClr val="FFFFFF"/>
                </a:solidFill>
                <a:latin typeface="Cy Grotesk Key"/>
                <a:ea typeface="Cy Grotesk Key"/>
                <a:cs typeface="Cy Grotesk Key"/>
                <a:sym typeface="Cy Grotesk Key"/>
              </a:rPr>
              <a:t>erant + ML-style imputation:</a:t>
            </a:r>
          </a:p>
          <a:p>
            <a:pPr algn="l" marL="431799" indent="-215899" lvl="1">
              <a:lnSpc>
                <a:spcPts val="2799"/>
              </a:lnSpc>
              <a:buFont typeface="Arial"/>
              <a:buChar char="•"/>
            </a:pPr>
            <a:r>
              <a:rPr lang="en-US" sz="1999">
                <a:solidFill>
                  <a:srgbClr val="FFFFFF"/>
                </a:solidFill>
                <a:latin typeface="Cy Grotesk Key"/>
                <a:ea typeface="Cy Grotesk Key"/>
                <a:cs typeface="Cy Grotesk Key"/>
                <a:sym typeface="Cy Grotesk Key"/>
              </a:rPr>
              <a:t>Drop rows that are all NULL across key numeric sensor columns (pure j</a:t>
            </a:r>
            <a:r>
              <a:rPr lang="en-US" sz="1999">
                <a:solidFill>
                  <a:srgbClr val="FFFFFF"/>
                </a:solidFill>
                <a:latin typeface="Cy Grotesk Key"/>
                <a:ea typeface="Cy Grotesk Key"/>
                <a:cs typeface="Cy Grotesk Key"/>
                <a:sym typeface="Cy Grotesk Key"/>
              </a:rPr>
              <a:t>unk).</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Keep par</a:t>
            </a:r>
            <a:r>
              <a:rPr lang="en-US" sz="1999">
                <a:solidFill>
                  <a:srgbClr val="FFFFFF"/>
                </a:solidFill>
                <a:latin typeface="Cy Grotesk Key"/>
                <a:ea typeface="Cy Grotesk Key"/>
                <a:cs typeface="Cy Grotesk Key"/>
                <a:sym typeface="Cy Grotesk Key"/>
              </a:rPr>
              <a:t>tial rows and impute missing numeric values using:</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pyspark.ml.feature.Imputer with median per column.</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booki</a:t>
            </a:r>
            <a:r>
              <a:rPr lang="en-US" sz="1999">
                <a:solidFill>
                  <a:srgbClr val="FFFFFF"/>
                </a:solidFill>
                <a:latin typeface="Cy Grotesk Key"/>
                <a:ea typeface="Cy Grotesk Key"/>
                <a:cs typeface="Cy Grotesk Key"/>
                <a:sym typeface="Cy Grotesk Key"/>
              </a:rPr>
              <a:t>ng_id is never imputed.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Thi</a:t>
            </a:r>
            <a:r>
              <a:rPr lang="en-US" sz="1999">
                <a:solidFill>
                  <a:srgbClr val="FFFFFF"/>
                </a:solidFill>
                <a:latin typeface="Cy Grotesk Key"/>
                <a:ea typeface="Cy Grotesk Key"/>
                <a:cs typeface="Cy Grotesk Key"/>
                <a:sym typeface="Cy Grotesk Key"/>
              </a:rPr>
              <a:t>s</a:t>
            </a:r>
            <a:r>
              <a:rPr lang="en-US" sz="1999">
                <a:solidFill>
                  <a:srgbClr val="FFFFFF"/>
                </a:solidFill>
                <a:latin typeface="Cy Grotesk Key"/>
                <a:ea typeface="Cy Grotesk Key"/>
                <a:cs typeface="Cy Grotesk Key"/>
                <a:sym typeface="Cy Grotesk Key"/>
              </a:rPr>
              <a:t> is more advanced than the driver script’s simple rule-based mean/median/mode imputation.</a:t>
            </a:r>
          </a:p>
          <a:p>
            <a:pPr algn="l">
              <a:lnSpc>
                <a:spcPts val="2799"/>
              </a:lnSpc>
              <a:spcBef>
                <a:spcPct val="0"/>
              </a:spcBef>
            </a:pPr>
          </a:p>
        </p:txBody>
      </p:sp>
      <p:sp>
        <p:nvSpPr>
          <p:cNvPr name="TextBox 14" id="14"/>
          <p:cNvSpPr txBox="true"/>
          <p:nvPr/>
        </p:nvSpPr>
        <p:spPr>
          <a:xfrm rot="0">
            <a:off x="974513" y="2541078"/>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4</a:t>
            </a:r>
          </a:p>
        </p:txBody>
      </p:sp>
      <p:sp>
        <p:nvSpPr>
          <p:cNvPr name="Freeform 15" id="15"/>
          <p:cNvSpPr/>
          <p:nvPr/>
        </p:nvSpPr>
        <p:spPr>
          <a:xfrm flipH="false" flipV="false" rot="0">
            <a:off x="3778191" y="-6583051"/>
            <a:ext cx="8804594" cy="8804594"/>
          </a:xfrm>
          <a:custGeom>
            <a:avLst/>
            <a:gdLst/>
            <a:ahLst/>
            <a:cxnLst/>
            <a:rect r="r" b="b" t="t" l="l"/>
            <a:pathLst>
              <a:path h="8804594" w="8804594">
                <a:moveTo>
                  <a:pt x="0" y="0"/>
                </a:moveTo>
                <a:lnTo>
                  <a:pt x="8804595" y="0"/>
                </a:lnTo>
                <a:lnTo>
                  <a:pt x="8804595" y="8804594"/>
                </a:lnTo>
                <a:lnTo>
                  <a:pt x="0" y="8804594"/>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9309376" y="-2796537"/>
            <a:ext cx="7139284" cy="9379588"/>
          </a:xfrm>
          <a:custGeom>
            <a:avLst/>
            <a:gdLst/>
            <a:ahLst/>
            <a:cxnLst/>
            <a:rect r="r" b="b" t="t" l="l"/>
            <a:pathLst>
              <a:path h="9379588" w="7139284">
                <a:moveTo>
                  <a:pt x="7139284" y="0"/>
                </a:moveTo>
                <a:lnTo>
                  <a:pt x="0" y="0"/>
                </a:lnTo>
                <a:lnTo>
                  <a:pt x="0" y="9379588"/>
                </a:lnTo>
                <a:lnTo>
                  <a:pt x="7139284" y="9379588"/>
                </a:lnTo>
                <a:lnTo>
                  <a:pt x="7139284" y="0"/>
                </a:lnTo>
                <a:close/>
              </a:path>
            </a:pathLst>
          </a:custGeom>
          <a:blipFill>
            <a:blip r:embed="rId6">
              <a:alphaModFix amt="69000"/>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9871526" y="518771"/>
            <a:ext cx="7387774" cy="9767051"/>
            <a:chOff x="0" y="0"/>
            <a:chExt cx="1945751" cy="2572392"/>
          </a:xfrm>
        </p:grpSpPr>
        <p:sp>
          <p:nvSpPr>
            <p:cNvPr name="Freeform 18" id="18"/>
            <p:cNvSpPr/>
            <p:nvPr/>
          </p:nvSpPr>
          <p:spPr>
            <a:xfrm flipH="false" flipV="false" rot="0">
              <a:off x="0" y="0"/>
              <a:ext cx="1945751" cy="2572392"/>
            </a:xfrm>
            <a:custGeom>
              <a:avLst/>
              <a:gdLst/>
              <a:ahLst/>
              <a:cxnLst/>
              <a:rect r="r" b="b" t="t" l="l"/>
              <a:pathLst>
                <a:path h="2572392" w="1945751">
                  <a:moveTo>
                    <a:pt x="29342" y="0"/>
                  </a:moveTo>
                  <a:lnTo>
                    <a:pt x="1916409" y="0"/>
                  </a:lnTo>
                  <a:cubicBezTo>
                    <a:pt x="1924191" y="0"/>
                    <a:pt x="1931654" y="3091"/>
                    <a:pt x="1937157" y="8594"/>
                  </a:cubicBezTo>
                  <a:cubicBezTo>
                    <a:pt x="1942660" y="14097"/>
                    <a:pt x="1945751" y="21560"/>
                    <a:pt x="1945751" y="29342"/>
                  </a:cubicBezTo>
                  <a:lnTo>
                    <a:pt x="1945751" y="2543050"/>
                  </a:lnTo>
                  <a:cubicBezTo>
                    <a:pt x="1945751" y="2550832"/>
                    <a:pt x="1942660" y="2558295"/>
                    <a:pt x="1937157" y="2563798"/>
                  </a:cubicBezTo>
                  <a:cubicBezTo>
                    <a:pt x="1931654" y="2569301"/>
                    <a:pt x="1924191" y="2572392"/>
                    <a:pt x="1916409" y="2572392"/>
                  </a:cubicBezTo>
                  <a:lnTo>
                    <a:pt x="29342" y="2572392"/>
                  </a:lnTo>
                  <a:cubicBezTo>
                    <a:pt x="21560" y="2572392"/>
                    <a:pt x="14097" y="2569301"/>
                    <a:pt x="8594" y="2563798"/>
                  </a:cubicBezTo>
                  <a:cubicBezTo>
                    <a:pt x="3091" y="2558295"/>
                    <a:pt x="0" y="2550832"/>
                    <a:pt x="0" y="2543050"/>
                  </a:cubicBezTo>
                  <a:lnTo>
                    <a:pt x="0" y="29342"/>
                  </a:lnTo>
                  <a:cubicBezTo>
                    <a:pt x="0" y="21560"/>
                    <a:pt x="3091" y="14097"/>
                    <a:pt x="8594" y="8594"/>
                  </a:cubicBezTo>
                  <a:cubicBezTo>
                    <a:pt x="14097" y="3091"/>
                    <a:pt x="21560" y="0"/>
                    <a:pt x="29342" y="0"/>
                  </a:cubicBezTo>
                  <a:close/>
                </a:path>
              </a:pathLst>
            </a:custGeom>
            <a:solidFill>
              <a:srgbClr val="3168CD"/>
            </a:solidFill>
          </p:spPr>
        </p:sp>
        <p:sp>
          <p:nvSpPr>
            <p:cNvPr name="TextBox 19" id="19"/>
            <p:cNvSpPr txBox="true"/>
            <p:nvPr/>
          </p:nvSpPr>
          <p:spPr>
            <a:xfrm>
              <a:off x="0" y="47625"/>
              <a:ext cx="1945751" cy="2524767"/>
            </a:xfrm>
            <a:prstGeom prst="rect">
              <a:avLst/>
            </a:prstGeom>
          </p:spPr>
          <p:txBody>
            <a:bodyPr anchor="ctr" rtlCol="false" tIns="50800" lIns="50800" bIns="50800" rIns="50800"/>
            <a:lstStyle/>
            <a:p>
              <a:pPr algn="ctr">
                <a:lnSpc>
                  <a:spcPts val="2011"/>
                </a:lnSpc>
              </a:pPr>
            </a:p>
          </p:txBody>
        </p:sp>
      </p:grpSp>
      <p:grpSp>
        <p:nvGrpSpPr>
          <p:cNvPr name="Group 20" id="20"/>
          <p:cNvGrpSpPr/>
          <p:nvPr/>
        </p:nvGrpSpPr>
        <p:grpSpPr>
          <a:xfrm rot="0">
            <a:off x="9576775" y="518771"/>
            <a:ext cx="703243" cy="70324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123825"/>
              <a:ext cx="660400" cy="612775"/>
            </a:xfrm>
            <a:prstGeom prst="rect">
              <a:avLst/>
            </a:prstGeom>
          </p:spPr>
          <p:txBody>
            <a:bodyPr anchor="ctr" rtlCol="false" tIns="50800" lIns="50800" bIns="50800" rIns="50800"/>
            <a:lstStyle/>
            <a:p>
              <a:pPr algn="ctr">
                <a:lnSpc>
                  <a:spcPts val="2011"/>
                </a:lnSpc>
              </a:pPr>
            </a:p>
          </p:txBody>
        </p:sp>
      </p:grpSp>
      <p:sp>
        <p:nvSpPr>
          <p:cNvPr name="TextBox 23" id="23"/>
          <p:cNvSpPr txBox="true"/>
          <p:nvPr/>
        </p:nvSpPr>
        <p:spPr>
          <a:xfrm rot="0">
            <a:off x="10523966" y="773521"/>
            <a:ext cx="6082894" cy="951230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Cy Grotesk Key"/>
                <a:ea typeface="Cy Grotesk Key"/>
                <a:cs typeface="Cy Grotesk Key"/>
                <a:sym typeface="Cy Grotesk Key"/>
              </a:rPr>
              <a:t>Advanced feature engineeri</a:t>
            </a:r>
            <a:r>
              <a:rPr lang="en-US" sz="1999">
                <a:solidFill>
                  <a:srgbClr val="FFFFFF"/>
                </a:solidFill>
                <a:latin typeface="Cy Grotesk Key"/>
                <a:ea typeface="Cy Grotesk Key"/>
                <a:cs typeface="Cy Grotesk Key"/>
                <a:sym typeface="Cy Grotesk Key"/>
              </a:rPr>
              <a:t>ng (trip-level profiles):</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Compute row-level signals:</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acc_magnitude = sqrt(ax² + ay² + az²)</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gyr</a:t>
            </a:r>
            <a:r>
              <a:rPr lang="en-US" sz="1999">
                <a:solidFill>
                  <a:srgbClr val="FFFFFF"/>
                </a:solidFill>
                <a:latin typeface="Cy Grotesk Key"/>
                <a:ea typeface="Cy Grotesk Key"/>
                <a:cs typeface="Cy Grotesk Key"/>
                <a:sym typeface="Cy Grotesk Key"/>
              </a:rPr>
              <a:t>o_magnitude = sqrt(gx² + gy² + gz²)</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Then aggregate per booking_id (per trip):</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Speed pr</a:t>
            </a:r>
            <a:r>
              <a:rPr lang="en-US" sz="1999">
                <a:solidFill>
                  <a:srgbClr val="FFFFFF"/>
                </a:solidFill>
                <a:latin typeface="Cy Grotesk Key"/>
                <a:ea typeface="Cy Grotesk Key"/>
                <a:cs typeface="Cy Grotesk Key"/>
                <a:sym typeface="Cy Grotesk Key"/>
              </a:rPr>
              <a:t>of</a:t>
            </a:r>
            <a:r>
              <a:rPr lang="en-US" sz="1999">
                <a:solidFill>
                  <a:srgbClr val="FFFFFF"/>
                </a:solidFill>
                <a:latin typeface="Cy Grotesk Key"/>
                <a:ea typeface="Cy Grotesk Key"/>
                <a:cs typeface="Cy Grotesk Key"/>
                <a:sym typeface="Cy Grotesk Key"/>
              </a:rPr>
              <a:t>ile: speed_mean,</a:t>
            </a:r>
            <a:r>
              <a:rPr lang="en-US" sz="1999">
                <a:solidFill>
                  <a:srgbClr val="FFFFFF"/>
                </a:solidFill>
                <a:latin typeface="Cy Grotesk Key"/>
                <a:ea typeface="Cy Grotesk Key"/>
                <a:cs typeface="Cy Grotesk Key"/>
                <a:sym typeface="Cy Grotesk Key"/>
              </a:rPr>
              <a:t> speed_std, sp</a:t>
            </a:r>
            <a:r>
              <a:rPr lang="en-US" sz="1999">
                <a:solidFill>
                  <a:srgbClr val="FFFFFF"/>
                </a:solidFill>
                <a:latin typeface="Cy Grotesk Key"/>
                <a:ea typeface="Cy Grotesk Key"/>
                <a:cs typeface="Cy Grotesk Key"/>
                <a:sym typeface="Cy Grotesk Key"/>
              </a:rPr>
              <a:t>eed_max, speed_min, speed_p90</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a:t>
            </a:r>
            <a:r>
              <a:rPr lang="en-US" sz="1999">
                <a:solidFill>
                  <a:srgbClr val="FFFFFF"/>
                </a:solidFill>
                <a:latin typeface="Cy Grotesk Key"/>
                <a:ea typeface="Cy Grotesk Key"/>
                <a:cs typeface="Cy Grotesk Key"/>
                <a:sym typeface="Cy Grotesk Key"/>
              </a:rPr>
              <a:t>cceleration magnitude profile: mean/std/max</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Axis context: mean acceleration per axis (x, y, z)</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Jerk profile: median and 95th percentile (based on changes in acceleration magnitude over time)</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Gyro profile: mean/std/95th percentile gyro magnitude</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Trip meta: FE_n_samples, FE_trip_duration_s, sampling_rate_hz</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St</a:t>
            </a:r>
            <a:r>
              <a:rPr lang="en-US" sz="1999">
                <a:solidFill>
                  <a:srgbClr val="FFFFFF"/>
                </a:solidFill>
                <a:latin typeface="Cy Grotesk Key"/>
                <a:ea typeface="Cy Grotesk Key"/>
                <a:cs typeface="Cy Grotesk Key"/>
                <a:sym typeface="Cy Grotesk Key"/>
              </a:rPr>
              <a:t>art/end speed: FE_start_speed, FE_end_speed</a:t>
            </a:r>
          </a:p>
          <a:p>
            <a:pPr algn="l" marL="863598" indent="-287866" lvl="2">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GPS a</a:t>
            </a:r>
            <a:r>
              <a:rPr lang="en-US" sz="1999">
                <a:solidFill>
                  <a:srgbClr val="FFFFFF"/>
                </a:solidFill>
                <a:latin typeface="Cy Grotesk Key"/>
                <a:ea typeface="Cy Grotesk Key"/>
                <a:cs typeface="Cy Grotesk Key"/>
                <a:sym typeface="Cy Grotesk Key"/>
              </a:rPr>
              <a:t>ccuracy stats: FE_gps_acc_mean, FE_gps_acc_std</a:t>
            </a:r>
          </a:p>
          <a:p>
            <a:pPr algn="l" marL="431799" indent="-215899" lvl="1">
              <a:lnSpc>
                <a:spcPts val="2799"/>
              </a:lnSpc>
              <a:spcBef>
                <a:spcPct val="0"/>
              </a:spcBef>
              <a:buFont typeface="Arial"/>
              <a:buChar char="•"/>
            </a:pPr>
            <a:r>
              <a:rPr lang="en-US" sz="1999">
                <a:solidFill>
                  <a:srgbClr val="FFFFFF"/>
                </a:solidFill>
                <a:latin typeface="Cy Grotesk Key"/>
                <a:ea typeface="Cy Grotesk Key"/>
                <a:cs typeface="Cy Grotesk Key"/>
                <a:sym typeface="Cy Grotesk Key"/>
              </a:rPr>
              <a:t>All engineered features are stored with FE_ prefixes and then aligned to the Dim_Sensor schema.</a:t>
            </a:r>
          </a:p>
          <a:p>
            <a:pPr algn="l">
              <a:lnSpc>
                <a:spcPts val="2799"/>
              </a:lnSpc>
              <a:spcBef>
                <a:spcPct val="0"/>
              </a:spcBef>
            </a:pPr>
          </a:p>
        </p:txBody>
      </p:sp>
      <p:sp>
        <p:nvSpPr>
          <p:cNvPr name="TextBox 24" id="24"/>
          <p:cNvSpPr txBox="true"/>
          <p:nvPr/>
        </p:nvSpPr>
        <p:spPr>
          <a:xfrm rot="0">
            <a:off x="9800953" y="625597"/>
            <a:ext cx="259895" cy="432441"/>
          </a:xfrm>
          <a:prstGeom prst="rect">
            <a:avLst/>
          </a:prstGeom>
        </p:spPr>
        <p:txBody>
          <a:bodyPr anchor="t" rtlCol="false" tIns="0" lIns="0" bIns="0" rIns="0">
            <a:spAutoFit/>
          </a:bodyPr>
          <a:lstStyle/>
          <a:p>
            <a:pPr algn="ctr">
              <a:lnSpc>
                <a:spcPts val="3483"/>
              </a:lnSpc>
              <a:spcBef>
                <a:spcPct val="0"/>
              </a:spcBef>
            </a:pPr>
            <a:r>
              <a:rPr lang="en-US" b="true" sz="2488">
                <a:solidFill>
                  <a:srgbClr val="04153C"/>
                </a:solidFill>
                <a:latin typeface="Cy Grotesk Key Bold"/>
                <a:ea typeface="Cy Grotesk Key Bold"/>
                <a:cs typeface="Cy Grotesk Key Bold"/>
                <a:sym typeface="Cy Grotesk Key Bold"/>
              </a:rPr>
              <a:t>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3435909" y="-121288"/>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715721" y="-121288"/>
            <a:ext cx="7139284" cy="9379588"/>
          </a:xfrm>
          <a:custGeom>
            <a:avLst/>
            <a:gdLst/>
            <a:ahLst/>
            <a:cxnLst/>
            <a:rect r="r" b="b" t="t" l="l"/>
            <a:pathLst>
              <a:path h="9379588" w="7139284">
                <a:moveTo>
                  <a:pt x="7139284" y="0"/>
                </a:moveTo>
                <a:lnTo>
                  <a:pt x="0" y="0"/>
                </a:lnTo>
                <a:lnTo>
                  <a:pt x="0" y="9379588"/>
                </a:lnTo>
                <a:lnTo>
                  <a:pt x="7139284" y="9379588"/>
                </a:lnTo>
                <a:lnTo>
                  <a:pt x="71392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798723"/>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31065" y="5425081"/>
            <a:ext cx="5307023" cy="4012569"/>
            <a:chOff x="0" y="0"/>
            <a:chExt cx="1447901" cy="1094738"/>
          </a:xfrm>
        </p:grpSpPr>
        <p:sp>
          <p:nvSpPr>
            <p:cNvPr name="Freeform 6" id="6"/>
            <p:cNvSpPr/>
            <p:nvPr/>
          </p:nvSpPr>
          <p:spPr>
            <a:xfrm flipH="false" flipV="false" rot="0">
              <a:off x="0" y="0"/>
              <a:ext cx="1447901" cy="1094739"/>
            </a:xfrm>
            <a:custGeom>
              <a:avLst/>
              <a:gdLst/>
              <a:ahLst/>
              <a:cxnLst/>
              <a:rect r="r" b="b" t="t" l="l"/>
              <a:pathLst>
                <a:path h="1094739" w="1447901">
                  <a:moveTo>
                    <a:pt x="74399" y="0"/>
                  </a:moveTo>
                  <a:lnTo>
                    <a:pt x="1373502" y="0"/>
                  </a:lnTo>
                  <a:cubicBezTo>
                    <a:pt x="1393234" y="0"/>
                    <a:pt x="1412158" y="7838"/>
                    <a:pt x="1426110" y="21791"/>
                  </a:cubicBezTo>
                  <a:cubicBezTo>
                    <a:pt x="1440063" y="35744"/>
                    <a:pt x="1447901" y="54667"/>
                    <a:pt x="1447901" y="74399"/>
                  </a:cubicBezTo>
                  <a:lnTo>
                    <a:pt x="1447901" y="1020339"/>
                  </a:lnTo>
                  <a:cubicBezTo>
                    <a:pt x="1447901" y="1061429"/>
                    <a:pt x="1414592" y="1094739"/>
                    <a:pt x="1373502" y="1094739"/>
                  </a:cubicBezTo>
                  <a:lnTo>
                    <a:pt x="74399" y="1094739"/>
                  </a:lnTo>
                  <a:cubicBezTo>
                    <a:pt x="33310" y="1094739"/>
                    <a:pt x="0" y="1061429"/>
                    <a:pt x="0" y="1020339"/>
                  </a:cubicBezTo>
                  <a:lnTo>
                    <a:pt x="0" y="74399"/>
                  </a:lnTo>
                  <a:cubicBezTo>
                    <a:pt x="0" y="33310"/>
                    <a:pt x="33310" y="0"/>
                    <a:pt x="74399"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47625"/>
              <a:ext cx="1447901" cy="1047113"/>
            </a:xfrm>
            <a:prstGeom prst="rect">
              <a:avLst/>
            </a:prstGeom>
          </p:spPr>
          <p:txBody>
            <a:bodyPr anchor="ctr" rtlCol="false" tIns="50800" lIns="50800" bIns="50800" rIns="50800"/>
            <a:lstStyle/>
            <a:p>
              <a:pPr algn="ctr">
                <a:lnSpc>
                  <a:spcPts val="2011"/>
                </a:lnSpc>
              </a:pPr>
            </a:p>
          </p:txBody>
        </p:sp>
      </p:grpSp>
      <p:sp>
        <p:nvSpPr>
          <p:cNvPr name="TextBox 8" id="8"/>
          <p:cNvSpPr txBox="true"/>
          <p:nvPr/>
        </p:nvSpPr>
        <p:spPr>
          <a:xfrm rot="0">
            <a:off x="5387647" y="1132228"/>
            <a:ext cx="7512706" cy="2536570"/>
          </a:xfrm>
          <a:prstGeom prst="rect">
            <a:avLst/>
          </a:prstGeom>
        </p:spPr>
        <p:txBody>
          <a:bodyPr anchor="t" rtlCol="false" tIns="0" lIns="0" bIns="0" rIns="0">
            <a:spAutoFit/>
          </a:bodyPr>
          <a:lstStyle/>
          <a:p>
            <a:pPr algn="ctr">
              <a:lnSpc>
                <a:spcPts val="13785"/>
              </a:lnSpc>
            </a:pPr>
            <a:r>
              <a:rPr lang="en-US" sz="12199">
                <a:solidFill>
                  <a:srgbClr val="FFFFFF"/>
                </a:solidFill>
                <a:latin typeface="Pattanakarn"/>
                <a:ea typeface="Pattanakarn"/>
                <a:cs typeface="Pattanakarn"/>
                <a:sym typeface="Pattanakarn"/>
              </a:rPr>
              <a:t>EDA</a:t>
            </a:r>
          </a:p>
          <a:p>
            <a:pPr algn="ctr">
              <a:lnSpc>
                <a:spcPts val="6328"/>
              </a:lnSpc>
            </a:pPr>
            <a:r>
              <a:rPr lang="en-US" sz="5600">
                <a:solidFill>
                  <a:srgbClr val="FFFFFF"/>
                </a:solidFill>
                <a:latin typeface="Pattanakarn"/>
                <a:ea typeface="Pattanakarn"/>
                <a:cs typeface="Pattanakarn"/>
                <a:sym typeface="Pattanakarn"/>
              </a:rPr>
              <a:t>Approach</a:t>
            </a:r>
          </a:p>
        </p:txBody>
      </p:sp>
      <p:sp>
        <p:nvSpPr>
          <p:cNvPr name="TextBox 9" id="9"/>
          <p:cNvSpPr txBox="true"/>
          <p:nvPr/>
        </p:nvSpPr>
        <p:spPr>
          <a:xfrm rot="0">
            <a:off x="1643670" y="5641955"/>
            <a:ext cx="4305946" cy="869950"/>
          </a:xfrm>
          <a:prstGeom prst="rect">
            <a:avLst/>
          </a:prstGeom>
        </p:spPr>
        <p:txBody>
          <a:bodyPr anchor="t" rtlCol="false" tIns="0" lIns="0" bIns="0" rIns="0">
            <a:spAutoFit/>
          </a:bodyPr>
          <a:lstStyle/>
          <a:p>
            <a:pPr algn="l">
              <a:lnSpc>
                <a:spcPts val="3499"/>
              </a:lnSpc>
              <a:spcBef>
                <a:spcPct val="0"/>
              </a:spcBef>
            </a:pPr>
            <a:r>
              <a:rPr lang="en-US" sz="2499">
                <a:solidFill>
                  <a:srgbClr val="44A5FF"/>
                </a:solidFill>
                <a:latin typeface="Cy Grotesk Key"/>
                <a:ea typeface="Cy Grotesk Key"/>
                <a:cs typeface="Cy Grotesk Key"/>
                <a:sym typeface="Cy Grotesk Key"/>
              </a:rPr>
              <a:t>DATA DISTRIBUTIONS AND BALANCE</a:t>
            </a:r>
          </a:p>
        </p:txBody>
      </p:sp>
      <p:sp>
        <p:nvSpPr>
          <p:cNvPr name="TextBox 10" id="10"/>
          <p:cNvSpPr txBox="true"/>
          <p:nvPr/>
        </p:nvSpPr>
        <p:spPr>
          <a:xfrm rot="0">
            <a:off x="1643670" y="6686550"/>
            <a:ext cx="4053898" cy="2571750"/>
          </a:xfrm>
          <a:prstGeom prst="rect">
            <a:avLst/>
          </a:prstGeom>
        </p:spPr>
        <p:txBody>
          <a:bodyPr anchor="t" rtlCol="false" tIns="0" lIns="0" bIns="0" rIns="0">
            <a:spAutoFit/>
          </a:bodyPr>
          <a:lstStyle/>
          <a:p>
            <a:pPr algn="l">
              <a:lnSpc>
                <a:spcPts val="2099"/>
              </a:lnSpc>
              <a:spcBef>
                <a:spcPct val="0"/>
              </a:spcBef>
            </a:pPr>
            <a:r>
              <a:rPr lang="en-US" sz="1499">
                <a:solidFill>
                  <a:srgbClr val="FFFFFF"/>
                </a:solidFill>
                <a:latin typeface="Cy Grotesk Key"/>
                <a:ea typeface="Cy Grotesk Key"/>
                <a:cs typeface="Cy Grotesk Key"/>
                <a:sym typeface="Cy Grotesk Key"/>
              </a:rPr>
              <a:t>For each k</a:t>
            </a:r>
            <a:r>
              <a:rPr lang="en-US" sz="1499">
                <a:solidFill>
                  <a:srgbClr val="FFFFFF"/>
                </a:solidFill>
                <a:latin typeface="Cy Grotesk Key"/>
                <a:ea typeface="Cy Grotesk Key"/>
                <a:cs typeface="Cy Grotesk Key"/>
                <a:sym typeface="Cy Grotesk Key"/>
              </a:rPr>
              <a:t>ey table (Driver, Trips/Safety, Sensor-aggregated):</a:t>
            </a:r>
          </a:p>
          <a:p>
            <a:pPr algn="l" marL="323848" indent="-161924" lvl="1">
              <a:lnSpc>
                <a:spcPts val="2099"/>
              </a:lnSpc>
              <a:spcBef>
                <a:spcPct val="0"/>
              </a:spcBef>
              <a:buFont typeface="Arial"/>
              <a:buChar char="•"/>
            </a:pPr>
            <a:r>
              <a:rPr lang="en-US" sz="1499">
                <a:solidFill>
                  <a:srgbClr val="FFFFFF"/>
                </a:solidFill>
                <a:latin typeface="Cy Grotesk Key"/>
                <a:ea typeface="Cy Grotesk Key"/>
                <a:cs typeface="Cy Grotesk Key"/>
                <a:sym typeface="Cy Grotesk Key"/>
              </a:rPr>
              <a:t>Compute numeric summaries (count, mean, std, min, max, quartiles)</a:t>
            </a:r>
          </a:p>
          <a:p>
            <a:pPr algn="l" marL="323848" indent="-161924" lvl="1">
              <a:lnSpc>
                <a:spcPts val="2099"/>
              </a:lnSpc>
              <a:spcBef>
                <a:spcPct val="0"/>
              </a:spcBef>
              <a:buFont typeface="Arial"/>
              <a:buChar char="•"/>
            </a:pPr>
            <a:r>
              <a:rPr lang="en-US" sz="1499">
                <a:solidFill>
                  <a:srgbClr val="FFFFFF"/>
                </a:solidFill>
                <a:latin typeface="Cy Grotesk Key"/>
                <a:ea typeface="Cy Grotesk Key"/>
                <a:cs typeface="Cy Grotesk Key"/>
                <a:sym typeface="Cy Grotesk Key"/>
              </a:rPr>
              <a:t>Inspect categorical distributions (e.g. gender, car brand, safety label, experience bands)</a:t>
            </a:r>
          </a:p>
          <a:p>
            <a:pPr algn="l" marL="323848" indent="-161924" lvl="1">
              <a:lnSpc>
                <a:spcPts val="2099"/>
              </a:lnSpc>
              <a:spcBef>
                <a:spcPct val="0"/>
              </a:spcBef>
              <a:buFont typeface="Arial"/>
              <a:buChar char="•"/>
            </a:pPr>
            <a:r>
              <a:rPr lang="en-US" sz="1499">
                <a:solidFill>
                  <a:srgbClr val="FFFFFF"/>
                </a:solidFill>
                <a:latin typeface="Cy Grotesk Key"/>
                <a:ea typeface="Cy Grotesk Key"/>
                <a:cs typeface="Cy Grotesk Key"/>
                <a:sym typeface="Cy Grotesk Key"/>
              </a:rPr>
              <a:t>Check class balance for Safe vs Dangerous trips</a:t>
            </a:r>
          </a:p>
          <a:p>
            <a:pPr algn="l">
              <a:lnSpc>
                <a:spcPts val="2099"/>
              </a:lnSpc>
              <a:spcBef>
                <a:spcPct val="0"/>
              </a:spcBef>
            </a:pPr>
          </a:p>
        </p:txBody>
      </p:sp>
      <p:grpSp>
        <p:nvGrpSpPr>
          <p:cNvPr name="Group 11" id="11"/>
          <p:cNvGrpSpPr/>
          <p:nvPr/>
        </p:nvGrpSpPr>
        <p:grpSpPr>
          <a:xfrm rot="0">
            <a:off x="6490488" y="5425081"/>
            <a:ext cx="5307023" cy="4012569"/>
            <a:chOff x="0" y="0"/>
            <a:chExt cx="1447901" cy="1094738"/>
          </a:xfrm>
        </p:grpSpPr>
        <p:sp>
          <p:nvSpPr>
            <p:cNvPr name="Freeform 12" id="12"/>
            <p:cNvSpPr/>
            <p:nvPr/>
          </p:nvSpPr>
          <p:spPr>
            <a:xfrm flipH="false" flipV="false" rot="0">
              <a:off x="0" y="0"/>
              <a:ext cx="1447901" cy="1094739"/>
            </a:xfrm>
            <a:custGeom>
              <a:avLst/>
              <a:gdLst/>
              <a:ahLst/>
              <a:cxnLst/>
              <a:rect r="r" b="b" t="t" l="l"/>
              <a:pathLst>
                <a:path h="1094739" w="1447901">
                  <a:moveTo>
                    <a:pt x="74399" y="0"/>
                  </a:moveTo>
                  <a:lnTo>
                    <a:pt x="1373502" y="0"/>
                  </a:lnTo>
                  <a:cubicBezTo>
                    <a:pt x="1393234" y="0"/>
                    <a:pt x="1412158" y="7838"/>
                    <a:pt x="1426110" y="21791"/>
                  </a:cubicBezTo>
                  <a:cubicBezTo>
                    <a:pt x="1440063" y="35744"/>
                    <a:pt x="1447901" y="54667"/>
                    <a:pt x="1447901" y="74399"/>
                  </a:cubicBezTo>
                  <a:lnTo>
                    <a:pt x="1447901" y="1020339"/>
                  </a:lnTo>
                  <a:cubicBezTo>
                    <a:pt x="1447901" y="1061429"/>
                    <a:pt x="1414592" y="1094739"/>
                    <a:pt x="1373502" y="1094739"/>
                  </a:cubicBezTo>
                  <a:lnTo>
                    <a:pt x="74399" y="1094739"/>
                  </a:lnTo>
                  <a:cubicBezTo>
                    <a:pt x="33310" y="1094739"/>
                    <a:pt x="0" y="1061429"/>
                    <a:pt x="0" y="1020339"/>
                  </a:cubicBezTo>
                  <a:lnTo>
                    <a:pt x="0" y="74399"/>
                  </a:lnTo>
                  <a:cubicBezTo>
                    <a:pt x="0" y="33310"/>
                    <a:pt x="33310" y="0"/>
                    <a:pt x="74399" y="0"/>
                  </a:cubicBezTo>
                  <a:close/>
                </a:path>
              </a:pathLst>
            </a:custGeom>
            <a:solidFill>
              <a:srgbClr val="000000">
                <a:alpha val="0"/>
              </a:srgbClr>
            </a:solidFill>
            <a:ln w="19050" cap="rnd">
              <a:solidFill>
                <a:srgbClr val="FFFFFF"/>
              </a:solidFill>
              <a:prstDash val="solid"/>
              <a:round/>
            </a:ln>
          </p:spPr>
        </p:sp>
        <p:sp>
          <p:nvSpPr>
            <p:cNvPr name="TextBox 13" id="13"/>
            <p:cNvSpPr txBox="true"/>
            <p:nvPr/>
          </p:nvSpPr>
          <p:spPr>
            <a:xfrm>
              <a:off x="0" y="47625"/>
              <a:ext cx="1447901" cy="1047113"/>
            </a:xfrm>
            <a:prstGeom prst="rect">
              <a:avLst/>
            </a:prstGeom>
          </p:spPr>
          <p:txBody>
            <a:bodyPr anchor="ctr" rtlCol="false" tIns="50800" lIns="50800" bIns="50800" rIns="50800"/>
            <a:lstStyle/>
            <a:p>
              <a:pPr algn="ctr">
                <a:lnSpc>
                  <a:spcPts val="2011"/>
                </a:lnSpc>
              </a:pPr>
            </a:p>
          </p:txBody>
        </p:sp>
      </p:grpSp>
      <p:sp>
        <p:nvSpPr>
          <p:cNvPr name="TextBox 14" id="14"/>
          <p:cNvSpPr txBox="true"/>
          <p:nvPr/>
        </p:nvSpPr>
        <p:spPr>
          <a:xfrm rot="0">
            <a:off x="7104371" y="5641955"/>
            <a:ext cx="3693150" cy="869950"/>
          </a:xfrm>
          <a:prstGeom prst="rect">
            <a:avLst/>
          </a:prstGeom>
        </p:spPr>
        <p:txBody>
          <a:bodyPr anchor="t" rtlCol="false" tIns="0" lIns="0" bIns="0" rIns="0">
            <a:spAutoFit/>
          </a:bodyPr>
          <a:lstStyle/>
          <a:p>
            <a:pPr algn="l">
              <a:lnSpc>
                <a:spcPts val="3499"/>
              </a:lnSpc>
              <a:spcBef>
                <a:spcPct val="0"/>
              </a:spcBef>
            </a:pPr>
            <a:r>
              <a:rPr lang="en-US" sz="2499">
                <a:solidFill>
                  <a:srgbClr val="44A5FF"/>
                </a:solidFill>
                <a:latin typeface="Cy Grotesk Key"/>
                <a:ea typeface="Cy Grotesk Key"/>
                <a:cs typeface="Cy Grotesk Key"/>
                <a:sym typeface="Cy Grotesk Key"/>
              </a:rPr>
              <a:t>SKEWNESS AND OUTLIERS</a:t>
            </a:r>
          </a:p>
        </p:txBody>
      </p:sp>
      <p:sp>
        <p:nvSpPr>
          <p:cNvPr name="TextBox 15" id="15"/>
          <p:cNvSpPr txBox="true"/>
          <p:nvPr/>
        </p:nvSpPr>
        <p:spPr>
          <a:xfrm rot="0">
            <a:off x="7099925" y="6694477"/>
            <a:ext cx="4088149" cy="1543050"/>
          </a:xfrm>
          <a:prstGeom prst="rect">
            <a:avLst/>
          </a:prstGeom>
        </p:spPr>
        <p:txBody>
          <a:bodyPr anchor="t" rtlCol="false" tIns="0" lIns="0" bIns="0" rIns="0">
            <a:spAutoFit/>
          </a:bodyPr>
          <a:lstStyle/>
          <a:p>
            <a:pPr algn="l">
              <a:lnSpc>
                <a:spcPts val="2099"/>
              </a:lnSpc>
              <a:spcBef>
                <a:spcPct val="0"/>
              </a:spcBef>
            </a:pPr>
            <a:r>
              <a:rPr lang="en-US" sz="1499">
                <a:solidFill>
                  <a:srgbClr val="FFFFFF"/>
                </a:solidFill>
                <a:latin typeface="Cy Grotesk Key"/>
                <a:ea typeface="Cy Grotesk Key"/>
                <a:cs typeface="Cy Grotesk Key"/>
                <a:sym typeface="Cy Grotesk Key"/>
              </a:rPr>
              <a:t>Use visual EDA (h</a:t>
            </a:r>
            <a:r>
              <a:rPr lang="en-US" sz="1499">
                <a:solidFill>
                  <a:srgbClr val="FFFFFF"/>
                </a:solidFill>
                <a:latin typeface="Cy Grotesk Key"/>
                <a:ea typeface="Cy Grotesk Key"/>
                <a:cs typeface="Cy Grotesk Key"/>
                <a:sym typeface="Cy Grotesk Key"/>
              </a:rPr>
              <a:t>istograms, boxplots, bar charts) to:</a:t>
            </a:r>
          </a:p>
          <a:p>
            <a:pPr algn="l" marL="323848" indent="-161924" lvl="1">
              <a:lnSpc>
                <a:spcPts val="2099"/>
              </a:lnSpc>
              <a:spcBef>
                <a:spcPct val="0"/>
              </a:spcBef>
              <a:buFont typeface="Arial"/>
              <a:buChar char="•"/>
            </a:pPr>
            <a:r>
              <a:rPr lang="en-US" sz="1499">
                <a:solidFill>
                  <a:srgbClr val="FFFFFF"/>
                </a:solidFill>
                <a:latin typeface="Cy Grotesk Key"/>
                <a:ea typeface="Cy Grotesk Key"/>
                <a:cs typeface="Cy Grotesk Key"/>
                <a:sym typeface="Cy Grotesk Key"/>
              </a:rPr>
              <a:t>Spot skewness and outliers</a:t>
            </a:r>
          </a:p>
          <a:p>
            <a:pPr algn="l" marL="323848" indent="-161924" lvl="1">
              <a:lnSpc>
                <a:spcPts val="2099"/>
              </a:lnSpc>
              <a:spcBef>
                <a:spcPct val="0"/>
              </a:spcBef>
              <a:buFont typeface="Arial"/>
              <a:buChar char="•"/>
            </a:pPr>
            <a:r>
              <a:rPr lang="en-US" sz="1499">
                <a:solidFill>
                  <a:srgbClr val="FFFFFF"/>
                </a:solidFill>
                <a:latin typeface="Cy Grotesk Key"/>
                <a:ea typeface="Cy Grotesk Key"/>
                <a:cs typeface="Cy Grotesk Key"/>
                <a:sym typeface="Cy Grotesk Key"/>
              </a:rPr>
              <a:t>Understand driver demographics, car composition and safety label patterns</a:t>
            </a:r>
          </a:p>
          <a:p>
            <a:pPr algn="l">
              <a:lnSpc>
                <a:spcPts val="2099"/>
              </a:lnSpc>
              <a:spcBef>
                <a:spcPct val="0"/>
              </a:spcBef>
            </a:pPr>
          </a:p>
        </p:txBody>
      </p:sp>
      <p:grpSp>
        <p:nvGrpSpPr>
          <p:cNvPr name="Group 16" id="16"/>
          <p:cNvGrpSpPr/>
          <p:nvPr/>
        </p:nvGrpSpPr>
        <p:grpSpPr>
          <a:xfrm rot="0">
            <a:off x="11952277" y="5425081"/>
            <a:ext cx="5307023" cy="4012569"/>
            <a:chOff x="0" y="0"/>
            <a:chExt cx="1447901" cy="1094738"/>
          </a:xfrm>
        </p:grpSpPr>
        <p:sp>
          <p:nvSpPr>
            <p:cNvPr name="Freeform 17" id="17"/>
            <p:cNvSpPr/>
            <p:nvPr/>
          </p:nvSpPr>
          <p:spPr>
            <a:xfrm flipH="false" flipV="false" rot="0">
              <a:off x="0" y="0"/>
              <a:ext cx="1447901" cy="1094739"/>
            </a:xfrm>
            <a:custGeom>
              <a:avLst/>
              <a:gdLst/>
              <a:ahLst/>
              <a:cxnLst/>
              <a:rect r="r" b="b" t="t" l="l"/>
              <a:pathLst>
                <a:path h="1094739" w="1447901">
                  <a:moveTo>
                    <a:pt x="74399" y="0"/>
                  </a:moveTo>
                  <a:lnTo>
                    <a:pt x="1373502" y="0"/>
                  </a:lnTo>
                  <a:cubicBezTo>
                    <a:pt x="1393234" y="0"/>
                    <a:pt x="1412158" y="7838"/>
                    <a:pt x="1426110" y="21791"/>
                  </a:cubicBezTo>
                  <a:cubicBezTo>
                    <a:pt x="1440063" y="35744"/>
                    <a:pt x="1447901" y="54667"/>
                    <a:pt x="1447901" y="74399"/>
                  </a:cubicBezTo>
                  <a:lnTo>
                    <a:pt x="1447901" y="1020339"/>
                  </a:lnTo>
                  <a:cubicBezTo>
                    <a:pt x="1447901" y="1061429"/>
                    <a:pt x="1414592" y="1094739"/>
                    <a:pt x="1373502" y="1094739"/>
                  </a:cubicBezTo>
                  <a:lnTo>
                    <a:pt x="74399" y="1094739"/>
                  </a:lnTo>
                  <a:cubicBezTo>
                    <a:pt x="33310" y="1094739"/>
                    <a:pt x="0" y="1061429"/>
                    <a:pt x="0" y="1020339"/>
                  </a:cubicBezTo>
                  <a:lnTo>
                    <a:pt x="0" y="74399"/>
                  </a:lnTo>
                  <a:cubicBezTo>
                    <a:pt x="0" y="33310"/>
                    <a:pt x="33310" y="0"/>
                    <a:pt x="74399" y="0"/>
                  </a:cubicBezTo>
                  <a:close/>
                </a:path>
              </a:pathLst>
            </a:custGeom>
            <a:solidFill>
              <a:srgbClr val="000000">
                <a:alpha val="0"/>
              </a:srgbClr>
            </a:solidFill>
            <a:ln w="19050" cap="rnd">
              <a:solidFill>
                <a:srgbClr val="FFFFFF"/>
              </a:solidFill>
              <a:prstDash val="solid"/>
              <a:round/>
            </a:ln>
          </p:spPr>
        </p:sp>
        <p:sp>
          <p:nvSpPr>
            <p:cNvPr name="TextBox 18" id="18"/>
            <p:cNvSpPr txBox="true"/>
            <p:nvPr/>
          </p:nvSpPr>
          <p:spPr>
            <a:xfrm>
              <a:off x="0" y="47625"/>
              <a:ext cx="1447901" cy="1047113"/>
            </a:xfrm>
            <a:prstGeom prst="rect">
              <a:avLst/>
            </a:prstGeom>
          </p:spPr>
          <p:txBody>
            <a:bodyPr anchor="ctr" rtlCol="false" tIns="50800" lIns="50800" bIns="50800" rIns="50800"/>
            <a:lstStyle/>
            <a:p>
              <a:pPr algn="ctr">
                <a:lnSpc>
                  <a:spcPts val="2011"/>
                </a:lnSpc>
              </a:pPr>
            </a:p>
          </p:txBody>
        </p:sp>
      </p:grpSp>
      <p:sp>
        <p:nvSpPr>
          <p:cNvPr name="TextBox 19" id="19"/>
          <p:cNvSpPr txBox="true"/>
          <p:nvPr/>
        </p:nvSpPr>
        <p:spPr>
          <a:xfrm rot="0">
            <a:off x="12606632" y="5693211"/>
            <a:ext cx="3322960" cy="869950"/>
          </a:xfrm>
          <a:prstGeom prst="rect">
            <a:avLst/>
          </a:prstGeom>
        </p:spPr>
        <p:txBody>
          <a:bodyPr anchor="t" rtlCol="false" tIns="0" lIns="0" bIns="0" rIns="0">
            <a:spAutoFit/>
          </a:bodyPr>
          <a:lstStyle/>
          <a:p>
            <a:pPr algn="l">
              <a:lnSpc>
                <a:spcPts val="3499"/>
              </a:lnSpc>
              <a:spcBef>
                <a:spcPct val="0"/>
              </a:spcBef>
            </a:pPr>
            <a:r>
              <a:rPr lang="en-US" sz="2499">
                <a:solidFill>
                  <a:srgbClr val="44A5FF"/>
                </a:solidFill>
                <a:latin typeface="Cy Grotesk Key"/>
                <a:ea typeface="Cy Grotesk Key"/>
                <a:cs typeface="Cy Grotesk Key"/>
                <a:sym typeface="Cy Grotesk Key"/>
              </a:rPr>
              <a:t>GUIDING DASHBOARD</a:t>
            </a:r>
          </a:p>
        </p:txBody>
      </p:sp>
      <p:sp>
        <p:nvSpPr>
          <p:cNvPr name="TextBox 20" id="20"/>
          <p:cNvSpPr txBox="true"/>
          <p:nvPr/>
        </p:nvSpPr>
        <p:spPr>
          <a:xfrm rot="0">
            <a:off x="12559512" y="6694477"/>
            <a:ext cx="4069027" cy="514350"/>
          </a:xfrm>
          <a:prstGeom prst="rect">
            <a:avLst/>
          </a:prstGeom>
        </p:spPr>
        <p:txBody>
          <a:bodyPr anchor="t" rtlCol="false" tIns="0" lIns="0" bIns="0" rIns="0">
            <a:spAutoFit/>
          </a:bodyPr>
          <a:lstStyle/>
          <a:p>
            <a:pPr algn="l">
              <a:lnSpc>
                <a:spcPts val="2099"/>
              </a:lnSpc>
              <a:spcBef>
                <a:spcPct val="0"/>
              </a:spcBef>
            </a:pPr>
            <a:r>
              <a:rPr lang="en-US" sz="1499">
                <a:solidFill>
                  <a:srgbClr val="FFFFFF"/>
                </a:solidFill>
                <a:latin typeface="Cy Grotesk Key"/>
                <a:ea typeface="Cy Grotesk Key"/>
                <a:cs typeface="Cy Grotesk Key"/>
                <a:sym typeface="Cy Grotesk Key"/>
              </a:rPr>
              <a:t>EDA outputs then</a:t>
            </a:r>
            <a:r>
              <a:rPr lang="en-US" sz="1499">
                <a:solidFill>
                  <a:srgbClr val="FFFFFF"/>
                </a:solidFill>
                <a:latin typeface="Cy Grotesk Key"/>
                <a:ea typeface="Cy Grotesk Key"/>
                <a:cs typeface="Cy Grotesk Key"/>
                <a:sym typeface="Cy Grotesk Key"/>
              </a:rPr>
              <a:t> guided what we chose to highlight in the three dashboards</a:t>
            </a:r>
          </a:p>
        </p:txBody>
      </p:sp>
      <p:sp>
        <p:nvSpPr>
          <p:cNvPr name="AutoShape 21" id="21"/>
          <p:cNvSpPr/>
          <p:nvPr/>
        </p:nvSpPr>
        <p:spPr>
          <a:xfrm>
            <a:off x="1643670" y="6618277"/>
            <a:ext cx="2706504" cy="0"/>
          </a:xfrm>
          <a:prstGeom prst="line">
            <a:avLst/>
          </a:prstGeom>
          <a:ln cap="flat" w="9525">
            <a:solidFill>
              <a:srgbClr val="FFFFFF"/>
            </a:solidFill>
            <a:prstDash val="solid"/>
            <a:headEnd type="none" len="sm" w="sm"/>
            <a:tailEnd type="none" len="sm" w="sm"/>
          </a:ln>
        </p:spPr>
      </p:sp>
      <p:sp>
        <p:nvSpPr>
          <p:cNvPr name="AutoShape 22" id="22"/>
          <p:cNvSpPr/>
          <p:nvPr/>
        </p:nvSpPr>
        <p:spPr>
          <a:xfrm>
            <a:off x="7099925" y="6623040"/>
            <a:ext cx="2706504" cy="0"/>
          </a:xfrm>
          <a:prstGeom prst="line">
            <a:avLst/>
          </a:prstGeom>
          <a:ln cap="flat" w="9525">
            <a:solidFill>
              <a:srgbClr val="FFFFFF"/>
            </a:solidFill>
            <a:prstDash val="solid"/>
            <a:headEnd type="none" len="sm" w="sm"/>
            <a:tailEnd type="none" len="sm" w="sm"/>
          </a:ln>
        </p:spPr>
      </p:sp>
      <p:sp>
        <p:nvSpPr>
          <p:cNvPr name="AutoShape 23" id="23"/>
          <p:cNvSpPr/>
          <p:nvPr/>
        </p:nvSpPr>
        <p:spPr>
          <a:xfrm>
            <a:off x="12559512" y="6623040"/>
            <a:ext cx="2706504" cy="0"/>
          </a:xfrm>
          <a:prstGeom prst="line">
            <a:avLst/>
          </a:prstGeom>
          <a:ln cap="flat" w="9525">
            <a:solidFill>
              <a:srgbClr val="FFFFFF"/>
            </a:solidFill>
            <a:prstDash val="solid"/>
            <a:headEnd type="none" len="sm" w="sm"/>
            <a:tailEnd type="none" len="sm" w="sm"/>
          </a:ln>
        </p:spPr>
      </p:sp>
      <p:sp>
        <p:nvSpPr>
          <p:cNvPr name="Freeform 24" id="24"/>
          <p:cNvSpPr/>
          <p:nvPr/>
        </p:nvSpPr>
        <p:spPr>
          <a:xfrm flipH="false" flipV="false" rot="186570">
            <a:off x="1226973" y="998465"/>
            <a:ext cx="4065303" cy="3626666"/>
          </a:xfrm>
          <a:custGeom>
            <a:avLst/>
            <a:gdLst/>
            <a:ahLst/>
            <a:cxnLst/>
            <a:rect r="r" b="b" t="t" l="l"/>
            <a:pathLst>
              <a:path h="3626666" w="4065303">
                <a:moveTo>
                  <a:pt x="0" y="0"/>
                </a:moveTo>
                <a:lnTo>
                  <a:pt x="4065303" y="0"/>
                </a:lnTo>
                <a:lnTo>
                  <a:pt x="4065303" y="3626667"/>
                </a:lnTo>
                <a:lnTo>
                  <a:pt x="0" y="36266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true" flipV="false" rot="-425068">
            <a:off x="12810919" y="1089879"/>
            <a:ext cx="3990346" cy="3559797"/>
          </a:xfrm>
          <a:custGeom>
            <a:avLst/>
            <a:gdLst/>
            <a:ahLst/>
            <a:cxnLst/>
            <a:rect r="r" b="b" t="t" l="l"/>
            <a:pathLst>
              <a:path h="3559797" w="3990346">
                <a:moveTo>
                  <a:pt x="3990345" y="0"/>
                </a:moveTo>
                <a:lnTo>
                  <a:pt x="0" y="0"/>
                </a:lnTo>
                <a:lnTo>
                  <a:pt x="0" y="3559796"/>
                </a:lnTo>
                <a:lnTo>
                  <a:pt x="3990345" y="3559796"/>
                </a:lnTo>
                <a:lnTo>
                  <a:pt x="399034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627599" y="5884703"/>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8">
              <a:alphaModFix amt="43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661078" y="60893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8">
              <a:alphaModFix amt="43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5679783" y="7833401"/>
            <a:ext cx="6928434" cy="4114800"/>
          </a:xfrm>
          <a:custGeom>
            <a:avLst/>
            <a:gdLst/>
            <a:ahLst/>
            <a:cxnLst/>
            <a:rect r="r" b="b" t="t" l="l"/>
            <a:pathLst>
              <a:path h="4114800" w="6928434">
                <a:moveTo>
                  <a:pt x="0" y="0"/>
                </a:moveTo>
                <a:lnTo>
                  <a:pt x="6928434" y="0"/>
                </a:lnTo>
                <a:lnTo>
                  <a:pt x="6928434" y="4114800"/>
                </a:lnTo>
                <a:lnTo>
                  <a:pt x="0" y="4114800"/>
                </a:lnTo>
                <a:lnTo>
                  <a:pt x="0" y="0"/>
                </a:lnTo>
                <a:close/>
              </a:path>
            </a:pathLst>
          </a:custGeom>
          <a:blipFill>
            <a:blip r:embed="rId10">
              <a:alphaModFix amt="24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6452761" y="4479308"/>
            <a:ext cx="4717888" cy="5339820"/>
          </a:xfrm>
          <a:custGeom>
            <a:avLst/>
            <a:gdLst/>
            <a:ahLst/>
            <a:cxnLst/>
            <a:rect r="r" b="b" t="t" l="l"/>
            <a:pathLst>
              <a:path h="5339820" w="4717888">
                <a:moveTo>
                  <a:pt x="0" y="0"/>
                </a:moveTo>
                <a:lnTo>
                  <a:pt x="4717888" y="0"/>
                </a:lnTo>
                <a:lnTo>
                  <a:pt x="4717888" y="5339820"/>
                </a:lnTo>
                <a:lnTo>
                  <a:pt x="0" y="5339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3365944" y="337017"/>
            <a:ext cx="11556113" cy="3581463"/>
          </a:xfrm>
          <a:prstGeom prst="rect">
            <a:avLst/>
          </a:prstGeom>
        </p:spPr>
        <p:txBody>
          <a:bodyPr anchor="t" rtlCol="false" tIns="0" lIns="0" bIns="0" rIns="0">
            <a:spAutoFit/>
          </a:bodyPr>
          <a:lstStyle/>
          <a:p>
            <a:pPr algn="ctr">
              <a:lnSpc>
                <a:spcPts val="14159"/>
              </a:lnSpc>
            </a:pPr>
            <a:r>
              <a:rPr lang="en-US" sz="12206">
                <a:solidFill>
                  <a:srgbClr val="FFFFFF"/>
                </a:solidFill>
                <a:latin typeface="Pattanakarn"/>
                <a:ea typeface="Pattanakarn"/>
                <a:cs typeface="Pattanakarn"/>
                <a:sym typeface="Pattanakarn"/>
              </a:rPr>
              <a:t>Dashboard &amp; Insights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986996" y="700405"/>
            <a:ext cx="14727328"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1: Overview</a:t>
            </a:r>
          </a:p>
        </p:txBody>
      </p:sp>
      <p:sp>
        <p:nvSpPr>
          <p:cNvPr name="Freeform 7" id="7"/>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10253901" y="1515630"/>
            <a:ext cx="7263603" cy="9147384"/>
            <a:chOff x="0" y="0"/>
            <a:chExt cx="1913048" cy="2409188"/>
          </a:xfrm>
        </p:grpSpPr>
        <p:sp>
          <p:nvSpPr>
            <p:cNvPr name="Freeform 9" id="9"/>
            <p:cNvSpPr/>
            <p:nvPr/>
          </p:nvSpPr>
          <p:spPr>
            <a:xfrm flipH="false" flipV="false" rot="0">
              <a:off x="0" y="0"/>
              <a:ext cx="1913048" cy="2409188"/>
            </a:xfrm>
            <a:custGeom>
              <a:avLst/>
              <a:gdLst/>
              <a:ahLst/>
              <a:cxnLst/>
              <a:rect r="r" b="b" t="t" l="l"/>
              <a:pathLst>
                <a:path h="2409188" w="1913048">
                  <a:moveTo>
                    <a:pt x="54358" y="0"/>
                  </a:moveTo>
                  <a:lnTo>
                    <a:pt x="1858689" y="0"/>
                  </a:lnTo>
                  <a:cubicBezTo>
                    <a:pt x="1888711" y="0"/>
                    <a:pt x="1913048" y="24337"/>
                    <a:pt x="1913048" y="54358"/>
                  </a:cubicBezTo>
                  <a:lnTo>
                    <a:pt x="1913048" y="2354829"/>
                  </a:lnTo>
                  <a:cubicBezTo>
                    <a:pt x="1913048" y="2384851"/>
                    <a:pt x="1888711" y="2409188"/>
                    <a:pt x="1858689" y="2409188"/>
                  </a:cubicBezTo>
                  <a:lnTo>
                    <a:pt x="54358" y="2409188"/>
                  </a:lnTo>
                  <a:cubicBezTo>
                    <a:pt x="39942" y="2409188"/>
                    <a:pt x="26115" y="2403461"/>
                    <a:pt x="15921" y="2393267"/>
                  </a:cubicBezTo>
                  <a:cubicBezTo>
                    <a:pt x="5727" y="2383072"/>
                    <a:pt x="0" y="2369246"/>
                    <a:pt x="0" y="2354829"/>
                  </a:cubicBezTo>
                  <a:lnTo>
                    <a:pt x="0" y="54358"/>
                  </a:lnTo>
                  <a:cubicBezTo>
                    <a:pt x="0" y="24337"/>
                    <a:pt x="24337" y="0"/>
                    <a:pt x="54358" y="0"/>
                  </a:cubicBezTo>
                  <a:close/>
                </a:path>
              </a:pathLst>
            </a:custGeom>
            <a:solidFill>
              <a:srgbClr val="000000">
                <a:alpha val="0"/>
              </a:srgbClr>
            </a:solidFill>
            <a:ln w="28575" cap="rnd">
              <a:solidFill>
                <a:srgbClr val="FFFFFF">
                  <a:alpha val="25882"/>
                </a:srgbClr>
              </a:solidFill>
              <a:prstDash val="solid"/>
              <a:round/>
            </a:ln>
          </p:spPr>
        </p:sp>
        <p:sp>
          <p:nvSpPr>
            <p:cNvPr name="TextBox 10" id="10"/>
            <p:cNvSpPr txBox="true"/>
            <p:nvPr/>
          </p:nvSpPr>
          <p:spPr>
            <a:xfrm>
              <a:off x="0" y="47625"/>
              <a:ext cx="1913048" cy="2361563"/>
            </a:xfrm>
            <a:prstGeom prst="rect">
              <a:avLst/>
            </a:prstGeom>
          </p:spPr>
          <p:txBody>
            <a:bodyPr anchor="ctr" rtlCol="false" tIns="50800" lIns="50800" bIns="50800" rIns="50800"/>
            <a:lstStyle/>
            <a:p>
              <a:pPr algn="ctr">
                <a:lnSpc>
                  <a:spcPts val="2011"/>
                </a:lnSpc>
              </a:pPr>
            </a:p>
          </p:txBody>
        </p:sp>
      </p:grpSp>
      <p:sp>
        <p:nvSpPr>
          <p:cNvPr name="Freeform 11" id="11"/>
          <p:cNvSpPr/>
          <p:nvPr/>
        </p:nvSpPr>
        <p:spPr>
          <a:xfrm flipH="false" flipV="false" rot="0">
            <a:off x="10018763" y="1809537"/>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0018763" y="4272293"/>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0018763" y="5981174"/>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27691" y="2225442"/>
            <a:ext cx="5802623" cy="4893760"/>
          </a:xfrm>
          <a:custGeom>
            <a:avLst/>
            <a:gdLst/>
            <a:ahLst/>
            <a:cxnLst/>
            <a:rect r="r" b="b" t="t" l="l"/>
            <a:pathLst>
              <a:path h="4893760" w="5802623">
                <a:moveTo>
                  <a:pt x="0" y="0"/>
                </a:moveTo>
                <a:lnTo>
                  <a:pt x="5802623" y="0"/>
                </a:lnTo>
                <a:lnTo>
                  <a:pt x="5802623" y="4893760"/>
                </a:lnTo>
                <a:lnTo>
                  <a:pt x="0" y="4893760"/>
                </a:lnTo>
                <a:lnTo>
                  <a:pt x="0" y="0"/>
                </a:lnTo>
                <a:close/>
              </a:path>
            </a:pathLst>
          </a:custGeom>
          <a:blipFill>
            <a:blip r:embed="rId12"/>
            <a:stretch>
              <a:fillRect l="-4315" t="0" r="-1961" b="-6597"/>
            </a:stretch>
          </a:blipFill>
        </p:spPr>
      </p:sp>
      <p:sp>
        <p:nvSpPr>
          <p:cNvPr name="Freeform 15" id="15"/>
          <p:cNvSpPr/>
          <p:nvPr/>
        </p:nvSpPr>
        <p:spPr>
          <a:xfrm flipH="false" flipV="false" rot="0">
            <a:off x="4749064" y="5981174"/>
            <a:ext cx="4866176" cy="3817575"/>
          </a:xfrm>
          <a:custGeom>
            <a:avLst/>
            <a:gdLst/>
            <a:ahLst/>
            <a:cxnLst/>
            <a:rect r="r" b="b" t="t" l="l"/>
            <a:pathLst>
              <a:path h="3817575" w="4866176">
                <a:moveTo>
                  <a:pt x="0" y="0"/>
                </a:moveTo>
                <a:lnTo>
                  <a:pt x="4866176" y="0"/>
                </a:lnTo>
                <a:lnTo>
                  <a:pt x="4866176" y="3817575"/>
                </a:lnTo>
                <a:lnTo>
                  <a:pt x="0" y="3817575"/>
                </a:lnTo>
                <a:lnTo>
                  <a:pt x="0" y="0"/>
                </a:lnTo>
                <a:close/>
              </a:path>
            </a:pathLst>
          </a:custGeom>
          <a:blipFill>
            <a:blip r:embed="rId13"/>
            <a:stretch>
              <a:fillRect l="-3089" t="0" r="-2403" b="0"/>
            </a:stretch>
          </a:blipFill>
        </p:spPr>
      </p:sp>
      <p:sp>
        <p:nvSpPr>
          <p:cNvPr name="TextBox 16" id="16"/>
          <p:cNvSpPr txBox="true"/>
          <p:nvPr/>
        </p:nvSpPr>
        <p:spPr>
          <a:xfrm rot="0">
            <a:off x="10957378" y="1752387"/>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DRIVER OVERVIEW:</a:t>
            </a:r>
          </a:p>
        </p:txBody>
      </p:sp>
      <p:sp>
        <p:nvSpPr>
          <p:cNvPr name="TextBox 17" id="17"/>
          <p:cNvSpPr txBox="true"/>
          <p:nvPr/>
        </p:nvSpPr>
        <p:spPr>
          <a:xfrm rot="0">
            <a:off x="10957378" y="2376688"/>
            <a:ext cx="5856649" cy="188785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500 active</a:t>
            </a:r>
            <a:r>
              <a:rPr lang="en-US" sz="1800">
                <a:solidFill>
                  <a:srgbClr val="FFFFFF"/>
                </a:solidFill>
                <a:latin typeface="Cy Grotesk Key"/>
                <a:ea typeface="Cy Grotesk Key"/>
                <a:cs typeface="Cy Grotesk Key"/>
                <a:sym typeface="Cy Grotesk Key"/>
              </a:rPr>
              <a:t> drivers, average ~15 years of driving experience → mature, experienced base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Average driver rating ≈ 4.0, showing generally good but improvable performance</a:t>
            </a:r>
          </a:p>
          <a:p>
            <a:pPr algn="l">
              <a:lnSpc>
                <a:spcPts val="2520"/>
              </a:lnSpc>
              <a:spcBef>
                <a:spcPct val="0"/>
              </a:spcBef>
            </a:pPr>
          </a:p>
        </p:txBody>
      </p:sp>
      <p:sp>
        <p:nvSpPr>
          <p:cNvPr name="TextBox 18" id="18"/>
          <p:cNvSpPr txBox="true"/>
          <p:nvPr/>
        </p:nvSpPr>
        <p:spPr>
          <a:xfrm rot="0">
            <a:off x="10957378" y="4207393"/>
            <a:ext cx="601200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DISTRIBUTION OF CAR BRANDS:</a:t>
            </a:r>
          </a:p>
        </p:txBody>
      </p:sp>
      <p:sp>
        <p:nvSpPr>
          <p:cNvPr name="TextBox 19" id="19"/>
          <p:cNvSpPr txBox="true"/>
          <p:nvPr/>
        </p:nvSpPr>
        <p:spPr>
          <a:xfrm rot="0">
            <a:off x="10957378" y="4822777"/>
            <a:ext cx="5856649" cy="94488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Fl</a:t>
            </a:r>
            <a:r>
              <a:rPr lang="en-US" sz="1800">
                <a:solidFill>
                  <a:srgbClr val="FFFFFF"/>
                </a:solidFill>
                <a:latin typeface="Cy Grotesk Key"/>
                <a:ea typeface="Cy Grotesk Key"/>
                <a:cs typeface="Cy Grotesk Key"/>
                <a:sym typeface="Cy Grotesk Key"/>
              </a:rPr>
              <a:t>eet contains 12 car brands; distribution is fairly balanced and brand does not show clear safety differences</a:t>
            </a:r>
          </a:p>
        </p:txBody>
      </p:sp>
      <p:sp>
        <p:nvSpPr>
          <p:cNvPr name="TextBox 20" id="20"/>
          <p:cNvSpPr txBox="true"/>
          <p:nvPr/>
        </p:nvSpPr>
        <p:spPr>
          <a:xfrm rot="0">
            <a:off x="10957378" y="6032172"/>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TRIP SAFETY</a:t>
            </a:r>
          </a:p>
        </p:txBody>
      </p:sp>
      <p:sp>
        <p:nvSpPr>
          <p:cNvPr name="TextBox 21" id="21"/>
          <p:cNvSpPr txBox="true"/>
          <p:nvPr/>
        </p:nvSpPr>
        <p:spPr>
          <a:xfrm rot="0">
            <a:off x="10957378" y="6648102"/>
            <a:ext cx="6274399" cy="188785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Ov</a:t>
            </a:r>
            <a:r>
              <a:rPr lang="en-US" sz="1800">
                <a:solidFill>
                  <a:srgbClr val="FFFFFF"/>
                </a:solidFill>
                <a:latin typeface="Cy Grotesk Key"/>
                <a:ea typeface="Cy Grotesk Key"/>
                <a:cs typeface="Cy Grotesk Key"/>
                <a:sym typeface="Cy Grotesk Key"/>
              </a:rPr>
              <a:t>erall trip safety:</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~75% Safe vs ~25% Dangerous → roughly 1 in 4 trips involves dangerous behaviour</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Early conclusion: safety issues are significant enough to justify an AI-based monitoring system</a:t>
            </a:r>
          </a:p>
          <a:p>
            <a:pPr algn="l">
              <a:lnSpc>
                <a:spcPts val="252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53901" y="1515630"/>
            <a:ext cx="7263603" cy="9147384"/>
            <a:chOff x="0" y="0"/>
            <a:chExt cx="1913048" cy="2409188"/>
          </a:xfrm>
        </p:grpSpPr>
        <p:sp>
          <p:nvSpPr>
            <p:cNvPr name="Freeform 7" id="7"/>
            <p:cNvSpPr/>
            <p:nvPr/>
          </p:nvSpPr>
          <p:spPr>
            <a:xfrm flipH="false" flipV="false" rot="0">
              <a:off x="0" y="0"/>
              <a:ext cx="1913048" cy="2409188"/>
            </a:xfrm>
            <a:custGeom>
              <a:avLst/>
              <a:gdLst/>
              <a:ahLst/>
              <a:cxnLst/>
              <a:rect r="r" b="b" t="t" l="l"/>
              <a:pathLst>
                <a:path h="2409188" w="1913048">
                  <a:moveTo>
                    <a:pt x="54358" y="0"/>
                  </a:moveTo>
                  <a:lnTo>
                    <a:pt x="1858689" y="0"/>
                  </a:lnTo>
                  <a:cubicBezTo>
                    <a:pt x="1888711" y="0"/>
                    <a:pt x="1913048" y="24337"/>
                    <a:pt x="1913048" y="54358"/>
                  </a:cubicBezTo>
                  <a:lnTo>
                    <a:pt x="1913048" y="2354829"/>
                  </a:lnTo>
                  <a:cubicBezTo>
                    <a:pt x="1913048" y="2384851"/>
                    <a:pt x="1888711" y="2409188"/>
                    <a:pt x="1858689" y="2409188"/>
                  </a:cubicBezTo>
                  <a:lnTo>
                    <a:pt x="54358" y="2409188"/>
                  </a:lnTo>
                  <a:cubicBezTo>
                    <a:pt x="39942" y="2409188"/>
                    <a:pt x="26115" y="2403461"/>
                    <a:pt x="15921" y="2393267"/>
                  </a:cubicBezTo>
                  <a:cubicBezTo>
                    <a:pt x="5727" y="2383072"/>
                    <a:pt x="0" y="2369246"/>
                    <a:pt x="0" y="2354829"/>
                  </a:cubicBezTo>
                  <a:lnTo>
                    <a:pt x="0" y="54358"/>
                  </a:lnTo>
                  <a:cubicBezTo>
                    <a:pt x="0" y="24337"/>
                    <a:pt x="24337" y="0"/>
                    <a:pt x="54358"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1913048"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10018763" y="1809537"/>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018763" y="4272293"/>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018763" y="6997771"/>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88762" y="5857946"/>
            <a:ext cx="6977536" cy="4369033"/>
          </a:xfrm>
          <a:custGeom>
            <a:avLst/>
            <a:gdLst/>
            <a:ahLst/>
            <a:cxnLst/>
            <a:rect r="r" b="b" t="t" l="l"/>
            <a:pathLst>
              <a:path h="4369033" w="6977536">
                <a:moveTo>
                  <a:pt x="0" y="0"/>
                </a:moveTo>
                <a:lnTo>
                  <a:pt x="6977536" y="0"/>
                </a:lnTo>
                <a:lnTo>
                  <a:pt x="6977536" y="4369033"/>
                </a:lnTo>
                <a:lnTo>
                  <a:pt x="0" y="4369033"/>
                </a:lnTo>
                <a:lnTo>
                  <a:pt x="0" y="0"/>
                </a:lnTo>
                <a:close/>
              </a:path>
            </a:pathLst>
          </a:custGeom>
          <a:blipFill>
            <a:blip r:embed="rId10"/>
            <a:stretch>
              <a:fillRect l="0" t="0" r="-967" b="0"/>
            </a:stretch>
          </a:blipFill>
        </p:spPr>
      </p:sp>
      <p:sp>
        <p:nvSpPr>
          <p:cNvPr name="Freeform 13" id="13"/>
          <p:cNvSpPr/>
          <p:nvPr/>
        </p:nvSpPr>
        <p:spPr>
          <a:xfrm flipH="false" flipV="false" rot="0">
            <a:off x="0" y="1515630"/>
            <a:ext cx="6006140" cy="4279934"/>
          </a:xfrm>
          <a:custGeom>
            <a:avLst/>
            <a:gdLst/>
            <a:ahLst/>
            <a:cxnLst/>
            <a:rect r="r" b="b" t="t" l="l"/>
            <a:pathLst>
              <a:path h="4279934" w="6006140">
                <a:moveTo>
                  <a:pt x="0" y="0"/>
                </a:moveTo>
                <a:lnTo>
                  <a:pt x="6006140" y="0"/>
                </a:lnTo>
                <a:lnTo>
                  <a:pt x="6006140" y="4279933"/>
                </a:lnTo>
                <a:lnTo>
                  <a:pt x="0" y="4279933"/>
                </a:lnTo>
                <a:lnTo>
                  <a:pt x="0" y="0"/>
                </a:lnTo>
                <a:close/>
              </a:path>
            </a:pathLst>
          </a:custGeom>
          <a:blipFill>
            <a:blip r:embed="rId11"/>
            <a:stretch>
              <a:fillRect l="-2623" t="0" r="-2248" b="0"/>
            </a:stretch>
          </a:blipFill>
        </p:spPr>
      </p:sp>
      <p:sp>
        <p:nvSpPr>
          <p:cNvPr name="TextBox 14" id="14"/>
          <p:cNvSpPr txBox="true"/>
          <p:nvPr/>
        </p:nvSpPr>
        <p:spPr>
          <a:xfrm rot="0">
            <a:off x="1986996" y="700405"/>
            <a:ext cx="14727328"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1: Experience, Ratings &amp; Cars</a:t>
            </a:r>
          </a:p>
        </p:txBody>
      </p:sp>
      <p:sp>
        <p:nvSpPr>
          <p:cNvPr name="TextBox 15" id="15"/>
          <p:cNvSpPr txBox="true"/>
          <p:nvPr/>
        </p:nvSpPr>
        <p:spPr>
          <a:xfrm rot="0">
            <a:off x="10957378" y="1752387"/>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DRIVER RATINGS:</a:t>
            </a:r>
          </a:p>
        </p:txBody>
      </p:sp>
      <p:sp>
        <p:nvSpPr>
          <p:cNvPr name="TextBox 16" id="16"/>
          <p:cNvSpPr txBox="true"/>
          <p:nvPr/>
        </p:nvSpPr>
        <p:spPr>
          <a:xfrm rot="0">
            <a:off x="10957378" y="2376688"/>
            <a:ext cx="5856649" cy="157353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Most ratings fall between 3.0 and 4.5, median around 3.5</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Majority of drivers deliver satisfactory to good service, with a few outliers on both ends</a:t>
            </a:r>
          </a:p>
          <a:p>
            <a:pPr algn="l">
              <a:lnSpc>
                <a:spcPts val="2520"/>
              </a:lnSpc>
              <a:spcBef>
                <a:spcPct val="0"/>
              </a:spcBef>
            </a:pPr>
          </a:p>
        </p:txBody>
      </p:sp>
      <p:sp>
        <p:nvSpPr>
          <p:cNvPr name="TextBox 17" id="17"/>
          <p:cNvSpPr txBox="true"/>
          <p:nvPr/>
        </p:nvSpPr>
        <p:spPr>
          <a:xfrm rot="0">
            <a:off x="10957378" y="4207393"/>
            <a:ext cx="601200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DISTRIBUTION OF CAR BRANDS:</a:t>
            </a:r>
          </a:p>
        </p:txBody>
      </p:sp>
      <p:sp>
        <p:nvSpPr>
          <p:cNvPr name="TextBox 18" id="18"/>
          <p:cNvSpPr txBox="true"/>
          <p:nvPr/>
        </p:nvSpPr>
        <p:spPr>
          <a:xfrm rot="0">
            <a:off x="10957378" y="4822777"/>
            <a:ext cx="5856649" cy="220218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a:t>
            </a:r>
            <a:r>
              <a:rPr lang="en-US" sz="1800">
                <a:solidFill>
                  <a:srgbClr val="FFFFFF"/>
                </a:solidFill>
                <a:latin typeface="Cy Grotesk Key"/>
                <a:ea typeface="Cy Grotesk Key"/>
                <a:cs typeface="Cy Grotesk Key"/>
                <a:sym typeface="Cy Grotesk Key"/>
              </a:rPr>
              <a:t>erous trips appear across all experience levels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No strong downward trend in dangerous trip rate with more years of driving</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Even drivers with 15–25 years of experience still record noticeable dangerous trips</a:t>
            </a:r>
          </a:p>
          <a:p>
            <a:pPr algn="l">
              <a:lnSpc>
                <a:spcPts val="2520"/>
              </a:lnSpc>
              <a:spcBef>
                <a:spcPct val="0"/>
              </a:spcBef>
            </a:pPr>
          </a:p>
        </p:txBody>
      </p:sp>
      <p:sp>
        <p:nvSpPr>
          <p:cNvPr name="TextBox 19" id="19"/>
          <p:cNvSpPr txBox="true"/>
          <p:nvPr/>
        </p:nvSpPr>
        <p:spPr>
          <a:xfrm rot="0">
            <a:off x="10957378" y="6994992"/>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CAR MODEL YEAR:</a:t>
            </a:r>
          </a:p>
        </p:txBody>
      </p:sp>
      <p:sp>
        <p:nvSpPr>
          <p:cNvPr name="TextBox 20" id="20"/>
          <p:cNvSpPr txBox="true"/>
          <p:nvPr/>
        </p:nvSpPr>
        <p:spPr>
          <a:xfrm rot="0">
            <a:off x="10957378" y="7642430"/>
            <a:ext cx="6274399" cy="188785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Most v</a:t>
            </a:r>
            <a:r>
              <a:rPr lang="en-US" sz="1800">
                <a:solidFill>
                  <a:srgbClr val="FFFFFF"/>
                </a:solidFill>
                <a:latin typeface="Cy Grotesk Key"/>
                <a:ea typeface="Cy Grotesk Key"/>
                <a:cs typeface="Cy Grotesk Key"/>
                <a:sym typeface="Cy Grotesk Key"/>
              </a:rPr>
              <a:t>ehicles are from 1990–2010 (especially 1995–2005); few cars after 2010</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Raises concerns about older hardware/safety features, but older years do not clearly drive higher dangerous trip rates in this dashboard</a:t>
            </a:r>
          </a:p>
          <a:p>
            <a:pPr algn="l">
              <a:lnSpc>
                <a:spcPts val="252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53901" y="1515630"/>
            <a:ext cx="7263603" cy="9147384"/>
            <a:chOff x="0" y="0"/>
            <a:chExt cx="1913048" cy="2409188"/>
          </a:xfrm>
        </p:grpSpPr>
        <p:sp>
          <p:nvSpPr>
            <p:cNvPr name="Freeform 7" id="7"/>
            <p:cNvSpPr/>
            <p:nvPr/>
          </p:nvSpPr>
          <p:spPr>
            <a:xfrm flipH="false" flipV="false" rot="0">
              <a:off x="0" y="0"/>
              <a:ext cx="1913048" cy="2409188"/>
            </a:xfrm>
            <a:custGeom>
              <a:avLst/>
              <a:gdLst/>
              <a:ahLst/>
              <a:cxnLst/>
              <a:rect r="r" b="b" t="t" l="l"/>
              <a:pathLst>
                <a:path h="2409188" w="1913048">
                  <a:moveTo>
                    <a:pt x="54358" y="0"/>
                  </a:moveTo>
                  <a:lnTo>
                    <a:pt x="1858689" y="0"/>
                  </a:lnTo>
                  <a:cubicBezTo>
                    <a:pt x="1888711" y="0"/>
                    <a:pt x="1913048" y="24337"/>
                    <a:pt x="1913048" y="54358"/>
                  </a:cubicBezTo>
                  <a:lnTo>
                    <a:pt x="1913048" y="2354829"/>
                  </a:lnTo>
                  <a:cubicBezTo>
                    <a:pt x="1913048" y="2384851"/>
                    <a:pt x="1888711" y="2409188"/>
                    <a:pt x="1858689" y="2409188"/>
                  </a:cubicBezTo>
                  <a:lnTo>
                    <a:pt x="54358" y="2409188"/>
                  </a:lnTo>
                  <a:cubicBezTo>
                    <a:pt x="39942" y="2409188"/>
                    <a:pt x="26115" y="2403461"/>
                    <a:pt x="15921" y="2393267"/>
                  </a:cubicBezTo>
                  <a:cubicBezTo>
                    <a:pt x="5727" y="2383072"/>
                    <a:pt x="0" y="2369246"/>
                    <a:pt x="0" y="2354829"/>
                  </a:cubicBezTo>
                  <a:lnTo>
                    <a:pt x="0" y="54358"/>
                  </a:lnTo>
                  <a:cubicBezTo>
                    <a:pt x="0" y="24337"/>
                    <a:pt x="24337" y="0"/>
                    <a:pt x="54358"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1913048"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10018763" y="1809537"/>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018763" y="4908362"/>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13806" y="2838771"/>
            <a:ext cx="6306229" cy="5116223"/>
          </a:xfrm>
          <a:custGeom>
            <a:avLst/>
            <a:gdLst/>
            <a:ahLst/>
            <a:cxnLst/>
            <a:rect r="r" b="b" t="t" l="l"/>
            <a:pathLst>
              <a:path h="5116223" w="6306229">
                <a:moveTo>
                  <a:pt x="0" y="0"/>
                </a:moveTo>
                <a:lnTo>
                  <a:pt x="6306229" y="0"/>
                </a:lnTo>
                <a:lnTo>
                  <a:pt x="6306229" y="5116223"/>
                </a:lnTo>
                <a:lnTo>
                  <a:pt x="0" y="5116223"/>
                </a:lnTo>
                <a:lnTo>
                  <a:pt x="0" y="0"/>
                </a:lnTo>
                <a:close/>
              </a:path>
            </a:pathLst>
          </a:custGeom>
          <a:blipFill>
            <a:blip r:embed="rId10"/>
            <a:stretch>
              <a:fillRect l="-2141" t="0" r="-1784" b="0"/>
            </a:stretch>
          </a:blipFill>
        </p:spPr>
      </p:sp>
      <p:sp>
        <p:nvSpPr>
          <p:cNvPr name="TextBox 12" id="12"/>
          <p:cNvSpPr txBox="true"/>
          <p:nvPr/>
        </p:nvSpPr>
        <p:spPr>
          <a:xfrm rot="0">
            <a:off x="1378746" y="700405"/>
            <a:ext cx="15530509"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1: Gender &amp; Overall Takeaways</a:t>
            </a:r>
          </a:p>
        </p:txBody>
      </p:sp>
      <p:sp>
        <p:nvSpPr>
          <p:cNvPr name="TextBox 13" id="13"/>
          <p:cNvSpPr txBox="true"/>
          <p:nvPr/>
        </p:nvSpPr>
        <p:spPr>
          <a:xfrm rot="0">
            <a:off x="10957378" y="1752387"/>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GENDER BREAKDOWN:</a:t>
            </a:r>
          </a:p>
        </p:txBody>
      </p:sp>
      <p:sp>
        <p:nvSpPr>
          <p:cNvPr name="TextBox 14" id="14"/>
          <p:cNvSpPr txBox="true"/>
          <p:nvPr/>
        </p:nvSpPr>
        <p:spPr>
          <a:xfrm rot="0">
            <a:off x="10957378" y="2376688"/>
            <a:ext cx="5856649" cy="220218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Male drivers: ~10.3K trips (≈ 2.6K dangerous, 7.7K safe)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Fem</a:t>
            </a:r>
            <a:r>
              <a:rPr lang="en-US" sz="1800">
                <a:solidFill>
                  <a:srgbClr val="FFFFFF"/>
                </a:solidFill>
                <a:latin typeface="Cy Grotesk Key"/>
                <a:ea typeface="Cy Grotesk Key"/>
                <a:cs typeface="Cy Grotesk Key"/>
                <a:sym typeface="Cy Grotesk Key"/>
              </a:rPr>
              <a:t>ale drivers: ~9.7K trips (≈ 2.4K dangerous, 7.3K safe)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Proportion of dangerous trips is very similar between genders</a:t>
            </a:r>
          </a:p>
          <a:p>
            <a:pPr algn="l">
              <a:lnSpc>
                <a:spcPts val="2520"/>
              </a:lnSpc>
              <a:spcBef>
                <a:spcPct val="0"/>
              </a:spcBef>
            </a:pPr>
          </a:p>
        </p:txBody>
      </p:sp>
      <p:sp>
        <p:nvSpPr>
          <p:cNvPr name="TextBox 15" id="15"/>
          <p:cNvSpPr txBox="true"/>
          <p:nvPr/>
        </p:nvSpPr>
        <p:spPr>
          <a:xfrm rot="0">
            <a:off x="10957378" y="5661015"/>
            <a:ext cx="5856649" cy="408813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a:t>
            </a:r>
            <a:r>
              <a:rPr lang="en-US" sz="1800">
                <a:solidFill>
                  <a:srgbClr val="FFFFFF"/>
                </a:solidFill>
                <a:latin typeface="Cy Grotesk Key"/>
                <a:ea typeface="Cy Grotesk Key"/>
                <a:cs typeface="Cy Grotesk Key"/>
                <a:sym typeface="Cy Grotesk Key"/>
              </a:rPr>
              <a:t>erous trips are common (25%) and need targeted intervention</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Experience is not a strong predictor of safety – both new and veteran drivers can drive dangerously</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Vehicle brand/model year show limited impact on dangerous behaviour in this view</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Ratings alone don’t fully capture safety – sensor data will be needed in Sprint 2</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Gender is not a meaningful risk factor; interventions should be behaviour-based, not demographic</a:t>
            </a:r>
          </a:p>
          <a:p>
            <a:pPr algn="l">
              <a:lnSpc>
                <a:spcPts val="2520"/>
              </a:lnSpc>
              <a:spcBef>
                <a:spcPct val="0"/>
              </a:spcBef>
            </a:pPr>
          </a:p>
        </p:txBody>
      </p:sp>
      <p:sp>
        <p:nvSpPr>
          <p:cNvPr name="TextBox 16" id="16"/>
          <p:cNvSpPr txBox="true"/>
          <p:nvPr/>
        </p:nvSpPr>
        <p:spPr>
          <a:xfrm rot="0">
            <a:off x="10957378" y="4635510"/>
            <a:ext cx="5314198" cy="958830"/>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KEY IMPLICATIONS FROM DASHBOARD 1:</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986996" y="700405"/>
            <a:ext cx="14727328"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2: Trips, Brands &amp; Car Age</a:t>
            </a:r>
          </a:p>
        </p:txBody>
      </p:sp>
      <p:grpSp>
        <p:nvGrpSpPr>
          <p:cNvPr name="Group 7" id="7"/>
          <p:cNvGrpSpPr/>
          <p:nvPr/>
        </p:nvGrpSpPr>
        <p:grpSpPr>
          <a:xfrm rot="0">
            <a:off x="6764845" y="1515630"/>
            <a:ext cx="10752659" cy="9147384"/>
            <a:chOff x="0" y="0"/>
            <a:chExt cx="2831976" cy="2409188"/>
          </a:xfrm>
        </p:grpSpPr>
        <p:sp>
          <p:nvSpPr>
            <p:cNvPr name="Freeform 8" id="8"/>
            <p:cNvSpPr/>
            <p:nvPr/>
          </p:nvSpPr>
          <p:spPr>
            <a:xfrm flipH="false" flipV="false" rot="0">
              <a:off x="0" y="0"/>
              <a:ext cx="2831976" cy="2409188"/>
            </a:xfrm>
            <a:custGeom>
              <a:avLst/>
              <a:gdLst/>
              <a:ahLst/>
              <a:cxnLst/>
              <a:rect r="r" b="b" t="t" l="l"/>
              <a:pathLst>
                <a:path h="2409188" w="2831976">
                  <a:moveTo>
                    <a:pt x="36720" y="0"/>
                  </a:moveTo>
                  <a:lnTo>
                    <a:pt x="2795256" y="0"/>
                  </a:lnTo>
                  <a:cubicBezTo>
                    <a:pt x="2815536" y="0"/>
                    <a:pt x="2831976" y="16440"/>
                    <a:pt x="2831976" y="36720"/>
                  </a:cubicBezTo>
                  <a:lnTo>
                    <a:pt x="2831976" y="2372468"/>
                  </a:lnTo>
                  <a:cubicBezTo>
                    <a:pt x="2831976" y="2382206"/>
                    <a:pt x="2828107" y="2391546"/>
                    <a:pt x="2821221" y="2398433"/>
                  </a:cubicBezTo>
                  <a:cubicBezTo>
                    <a:pt x="2814335" y="2405319"/>
                    <a:pt x="2804995" y="2409188"/>
                    <a:pt x="2795256" y="2409188"/>
                  </a:cubicBezTo>
                  <a:lnTo>
                    <a:pt x="36720" y="2409188"/>
                  </a:lnTo>
                  <a:cubicBezTo>
                    <a:pt x="26981" y="2409188"/>
                    <a:pt x="17641" y="2405319"/>
                    <a:pt x="10755" y="2398433"/>
                  </a:cubicBezTo>
                  <a:cubicBezTo>
                    <a:pt x="3869" y="2391546"/>
                    <a:pt x="0" y="2382206"/>
                    <a:pt x="0" y="2372468"/>
                  </a:cubicBezTo>
                  <a:lnTo>
                    <a:pt x="0" y="36720"/>
                  </a:lnTo>
                  <a:cubicBezTo>
                    <a:pt x="0" y="16440"/>
                    <a:pt x="16440" y="0"/>
                    <a:pt x="36720" y="0"/>
                  </a:cubicBezTo>
                  <a:close/>
                </a:path>
              </a:pathLst>
            </a:custGeom>
            <a:solidFill>
              <a:srgbClr val="000000">
                <a:alpha val="0"/>
              </a:srgbClr>
            </a:solidFill>
            <a:ln w="28575" cap="rnd">
              <a:solidFill>
                <a:srgbClr val="FFFFFF">
                  <a:alpha val="25882"/>
                </a:srgbClr>
              </a:solidFill>
              <a:prstDash val="solid"/>
              <a:round/>
            </a:ln>
          </p:spPr>
        </p:sp>
        <p:sp>
          <p:nvSpPr>
            <p:cNvPr name="TextBox 9" id="9"/>
            <p:cNvSpPr txBox="true"/>
            <p:nvPr/>
          </p:nvSpPr>
          <p:spPr>
            <a:xfrm>
              <a:off x="0" y="47625"/>
              <a:ext cx="2831976" cy="2361563"/>
            </a:xfrm>
            <a:prstGeom prst="rect">
              <a:avLst/>
            </a:prstGeom>
          </p:spPr>
          <p:txBody>
            <a:bodyPr anchor="ctr" rtlCol="false" tIns="50800" lIns="50800" bIns="50800" rIns="50800"/>
            <a:lstStyle/>
            <a:p>
              <a:pPr algn="ctr">
                <a:lnSpc>
                  <a:spcPts val="2011"/>
                </a:lnSpc>
              </a:pPr>
            </a:p>
          </p:txBody>
        </p:sp>
      </p:grpSp>
      <p:sp>
        <p:nvSpPr>
          <p:cNvPr name="Freeform 10" id="10"/>
          <p:cNvSpPr/>
          <p:nvPr/>
        </p:nvSpPr>
        <p:spPr>
          <a:xfrm flipH="false" flipV="false" rot="0">
            <a:off x="6529707" y="1809537"/>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529707" y="3683343"/>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529707" y="7359088"/>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0" y="6278195"/>
            <a:ext cx="5975951" cy="4008805"/>
          </a:xfrm>
          <a:custGeom>
            <a:avLst/>
            <a:gdLst/>
            <a:ahLst/>
            <a:cxnLst/>
            <a:rect r="r" b="b" t="t" l="l"/>
            <a:pathLst>
              <a:path h="4008805" w="5975951">
                <a:moveTo>
                  <a:pt x="0" y="0"/>
                </a:moveTo>
                <a:lnTo>
                  <a:pt x="5975951" y="0"/>
                </a:lnTo>
                <a:lnTo>
                  <a:pt x="5975951" y="4008805"/>
                </a:lnTo>
                <a:lnTo>
                  <a:pt x="0" y="4008805"/>
                </a:lnTo>
                <a:lnTo>
                  <a:pt x="0" y="0"/>
                </a:lnTo>
                <a:close/>
              </a:path>
            </a:pathLst>
          </a:custGeom>
          <a:blipFill>
            <a:blip r:embed="rId10"/>
            <a:stretch>
              <a:fillRect l="0" t="0" r="0" b="0"/>
            </a:stretch>
          </a:blipFill>
        </p:spPr>
      </p:sp>
      <p:sp>
        <p:nvSpPr>
          <p:cNvPr name="Freeform 14" id="14"/>
          <p:cNvSpPr/>
          <p:nvPr/>
        </p:nvSpPr>
        <p:spPr>
          <a:xfrm flipH="false" flipV="false" rot="0">
            <a:off x="0" y="3382594"/>
            <a:ext cx="6069803" cy="2377113"/>
          </a:xfrm>
          <a:custGeom>
            <a:avLst/>
            <a:gdLst/>
            <a:ahLst/>
            <a:cxnLst/>
            <a:rect r="r" b="b" t="t" l="l"/>
            <a:pathLst>
              <a:path h="2377113" w="6069803">
                <a:moveTo>
                  <a:pt x="0" y="0"/>
                </a:moveTo>
                <a:lnTo>
                  <a:pt x="6069803" y="0"/>
                </a:lnTo>
                <a:lnTo>
                  <a:pt x="6069803" y="2377112"/>
                </a:lnTo>
                <a:lnTo>
                  <a:pt x="0" y="2377112"/>
                </a:lnTo>
                <a:lnTo>
                  <a:pt x="0" y="0"/>
                </a:lnTo>
                <a:close/>
              </a:path>
            </a:pathLst>
          </a:custGeom>
          <a:blipFill>
            <a:blip r:embed="rId11"/>
            <a:stretch>
              <a:fillRect l="0" t="0" r="0" b="0"/>
            </a:stretch>
          </a:blipFill>
        </p:spPr>
      </p:sp>
      <p:sp>
        <p:nvSpPr>
          <p:cNvPr name="TextBox 15" id="15"/>
          <p:cNvSpPr txBox="true"/>
          <p:nvPr/>
        </p:nvSpPr>
        <p:spPr>
          <a:xfrm rot="0">
            <a:off x="7325577" y="1806757"/>
            <a:ext cx="5314198"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OVERALL TRIP STATS:</a:t>
            </a:r>
          </a:p>
        </p:txBody>
      </p:sp>
      <p:sp>
        <p:nvSpPr>
          <p:cNvPr name="TextBox 16" id="16"/>
          <p:cNvSpPr txBox="true"/>
          <p:nvPr/>
        </p:nvSpPr>
        <p:spPr>
          <a:xfrm rot="0">
            <a:off x="7325577" y="2376688"/>
            <a:ext cx="9643811" cy="125920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20,000 t</a:t>
            </a:r>
            <a:r>
              <a:rPr lang="en-US" sz="1800">
                <a:solidFill>
                  <a:srgbClr val="FFFFFF"/>
                </a:solidFill>
                <a:latin typeface="Cy Grotesk Key"/>
                <a:ea typeface="Cy Grotesk Key"/>
                <a:cs typeface="Cy Grotesk Key"/>
                <a:sym typeface="Cy Grotesk Key"/>
              </a:rPr>
              <a:t>rips in total.</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15,000 Safe, 5,000 Dangerous → 25% dangerous rate, matching Dashboard 1.</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Confirms that 1 in 4 trips involves unsafe behaviour – not a rare edge case.</a:t>
            </a:r>
          </a:p>
          <a:p>
            <a:pPr algn="l">
              <a:lnSpc>
                <a:spcPts val="2520"/>
              </a:lnSpc>
              <a:spcBef>
                <a:spcPct val="0"/>
              </a:spcBef>
            </a:pPr>
          </a:p>
        </p:txBody>
      </p:sp>
      <p:sp>
        <p:nvSpPr>
          <p:cNvPr name="TextBox 17" id="17"/>
          <p:cNvSpPr txBox="true"/>
          <p:nvPr/>
        </p:nvSpPr>
        <p:spPr>
          <a:xfrm rot="0">
            <a:off x="7325577" y="3645628"/>
            <a:ext cx="8398073"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DANGEROUS TRIPS BY CAR BRAND:</a:t>
            </a:r>
          </a:p>
        </p:txBody>
      </p:sp>
      <p:sp>
        <p:nvSpPr>
          <p:cNvPr name="TextBox 18" id="18"/>
          <p:cNvSpPr txBox="true"/>
          <p:nvPr/>
        </p:nvSpPr>
        <p:spPr>
          <a:xfrm rot="0">
            <a:off x="7319269" y="4213933"/>
            <a:ext cx="9643811" cy="314515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Ev</a:t>
            </a:r>
            <a:r>
              <a:rPr lang="en-US" sz="1800">
                <a:solidFill>
                  <a:srgbClr val="FFFFFF"/>
                </a:solidFill>
                <a:latin typeface="Cy Grotesk Key"/>
                <a:ea typeface="Cy Grotesk Key"/>
                <a:cs typeface="Cy Grotesk Key"/>
                <a:sym typeface="Cy Grotesk Key"/>
              </a:rPr>
              <a:t>ery brand shows more safe than dangerous trips, but dangerous trips are present for all.</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Example patterns: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Toyota ≈ 1,800 safe vs ~550 dangerous.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Volkswagen ≈ 1,400 safe vs ~500 dangerous.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Brands like Toyota, Volkswagen, Lexus, Audi, BMW have higher total trip volumes, but dangerous shares remain proportionate.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Conclusion: brand does not strongly influence dangerous behaviour – driver habits matter more.</a:t>
            </a:r>
          </a:p>
          <a:p>
            <a:pPr algn="l">
              <a:lnSpc>
                <a:spcPts val="2520"/>
              </a:lnSpc>
              <a:spcBef>
                <a:spcPct val="0"/>
              </a:spcBef>
            </a:pPr>
          </a:p>
        </p:txBody>
      </p:sp>
      <p:sp>
        <p:nvSpPr>
          <p:cNvPr name="TextBox 19" id="19"/>
          <p:cNvSpPr txBox="true"/>
          <p:nvPr/>
        </p:nvSpPr>
        <p:spPr>
          <a:xfrm rot="0">
            <a:off x="7319269" y="7301938"/>
            <a:ext cx="8082933"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DANGEROUS TRIPS BY CAR YEAR GROUP:</a:t>
            </a:r>
          </a:p>
        </p:txBody>
      </p:sp>
      <p:sp>
        <p:nvSpPr>
          <p:cNvPr name="TextBox 20" id="20"/>
          <p:cNvSpPr txBox="true"/>
          <p:nvPr/>
        </p:nvSpPr>
        <p:spPr>
          <a:xfrm rot="0">
            <a:off x="7319269" y="7870243"/>
            <a:ext cx="9643811" cy="220218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1990–1999</a:t>
            </a:r>
            <a:r>
              <a:rPr lang="en-US" sz="1800">
                <a:solidFill>
                  <a:srgbClr val="FFFFFF"/>
                </a:solidFill>
                <a:latin typeface="Cy Grotesk Key"/>
                <a:ea typeface="Cy Grotesk Key"/>
                <a:cs typeface="Cy Grotesk Key"/>
                <a:sym typeface="Cy Grotesk Key"/>
              </a:rPr>
              <a:t> and 2000–2009: highest volumes of trips and dangerous trips (around 1.5K and 2.2K dangerous respectively).</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2010–2020: few</a:t>
            </a:r>
            <a:r>
              <a:rPr lang="en-US" sz="1800">
                <a:solidFill>
                  <a:srgbClr val="FFFFFF"/>
                </a:solidFill>
                <a:latin typeface="Cy Grotesk Key"/>
                <a:ea typeface="Cy Grotesk Key"/>
                <a:cs typeface="Cy Grotesk Key"/>
                <a:sym typeface="Cy Grotesk Key"/>
              </a:rPr>
              <a:t>er trips overall, ≈ 0.7K dangerous trips.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Pre-1990: </a:t>
            </a:r>
            <a:r>
              <a:rPr lang="en-US" sz="1800">
                <a:solidFill>
                  <a:srgbClr val="FFFFFF"/>
                </a:solidFill>
                <a:latin typeface="Cy Grotesk Key"/>
                <a:ea typeface="Cy Grotesk Key"/>
                <a:cs typeface="Cy Grotesk Key"/>
                <a:sym typeface="Cy Grotesk Key"/>
              </a:rPr>
              <a:t>least trips but still ≈ 0.5K dangerous.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Newe</a:t>
            </a:r>
            <a:r>
              <a:rPr lang="en-US" sz="1800">
                <a:solidFill>
                  <a:srgbClr val="FFFFFF"/>
                </a:solidFill>
                <a:latin typeface="Cy Grotesk Key"/>
                <a:ea typeface="Cy Grotesk Key"/>
                <a:cs typeface="Cy Grotesk Key"/>
                <a:sym typeface="Cy Grotesk Key"/>
              </a:rPr>
              <a:t>r cars may look slightly safer, but differences are not dramatic → car age is, at most, a secondary factor.</a:t>
            </a:r>
          </a:p>
          <a:p>
            <a:pPr algn="l">
              <a:lnSpc>
                <a:spcPts val="252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53901" y="1515630"/>
            <a:ext cx="7263603" cy="9147384"/>
            <a:chOff x="0" y="0"/>
            <a:chExt cx="1913048" cy="2409188"/>
          </a:xfrm>
        </p:grpSpPr>
        <p:sp>
          <p:nvSpPr>
            <p:cNvPr name="Freeform 7" id="7"/>
            <p:cNvSpPr/>
            <p:nvPr/>
          </p:nvSpPr>
          <p:spPr>
            <a:xfrm flipH="false" flipV="false" rot="0">
              <a:off x="0" y="0"/>
              <a:ext cx="1913048" cy="2409188"/>
            </a:xfrm>
            <a:custGeom>
              <a:avLst/>
              <a:gdLst/>
              <a:ahLst/>
              <a:cxnLst/>
              <a:rect r="r" b="b" t="t" l="l"/>
              <a:pathLst>
                <a:path h="2409188" w="1913048">
                  <a:moveTo>
                    <a:pt x="54358" y="0"/>
                  </a:moveTo>
                  <a:lnTo>
                    <a:pt x="1858689" y="0"/>
                  </a:lnTo>
                  <a:cubicBezTo>
                    <a:pt x="1888711" y="0"/>
                    <a:pt x="1913048" y="24337"/>
                    <a:pt x="1913048" y="54358"/>
                  </a:cubicBezTo>
                  <a:lnTo>
                    <a:pt x="1913048" y="2354829"/>
                  </a:lnTo>
                  <a:cubicBezTo>
                    <a:pt x="1913048" y="2384851"/>
                    <a:pt x="1888711" y="2409188"/>
                    <a:pt x="1858689" y="2409188"/>
                  </a:cubicBezTo>
                  <a:lnTo>
                    <a:pt x="54358" y="2409188"/>
                  </a:lnTo>
                  <a:cubicBezTo>
                    <a:pt x="39942" y="2409188"/>
                    <a:pt x="26115" y="2403461"/>
                    <a:pt x="15921" y="2393267"/>
                  </a:cubicBezTo>
                  <a:cubicBezTo>
                    <a:pt x="5727" y="2383072"/>
                    <a:pt x="0" y="2369246"/>
                    <a:pt x="0" y="2354829"/>
                  </a:cubicBezTo>
                  <a:lnTo>
                    <a:pt x="0" y="54358"/>
                  </a:lnTo>
                  <a:cubicBezTo>
                    <a:pt x="0" y="24337"/>
                    <a:pt x="24337" y="0"/>
                    <a:pt x="54358"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1913048"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10018763" y="1809537"/>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018763" y="4626493"/>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30726" y="5852975"/>
            <a:ext cx="10458313" cy="4434025"/>
          </a:xfrm>
          <a:custGeom>
            <a:avLst/>
            <a:gdLst/>
            <a:ahLst/>
            <a:cxnLst/>
            <a:rect r="r" b="b" t="t" l="l"/>
            <a:pathLst>
              <a:path h="4434025" w="10458313">
                <a:moveTo>
                  <a:pt x="0" y="0"/>
                </a:moveTo>
                <a:lnTo>
                  <a:pt x="10458313" y="0"/>
                </a:lnTo>
                <a:lnTo>
                  <a:pt x="10458313" y="4434025"/>
                </a:lnTo>
                <a:lnTo>
                  <a:pt x="0" y="4434025"/>
                </a:lnTo>
                <a:lnTo>
                  <a:pt x="0" y="0"/>
                </a:lnTo>
                <a:close/>
              </a:path>
            </a:pathLst>
          </a:custGeom>
          <a:blipFill>
            <a:blip r:embed="rId10"/>
            <a:stretch>
              <a:fillRect l="0" t="0" r="0" b="0"/>
            </a:stretch>
          </a:blipFill>
        </p:spPr>
      </p:sp>
      <p:sp>
        <p:nvSpPr>
          <p:cNvPr name="Freeform 12" id="12"/>
          <p:cNvSpPr/>
          <p:nvPr/>
        </p:nvSpPr>
        <p:spPr>
          <a:xfrm flipH="false" flipV="false" rot="0">
            <a:off x="30726" y="1963210"/>
            <a:ext cx="7976479" cy="3889764"/>
          </a:xfrm>
          <a:custGeom>
            <a:avLst/>
            <a:gdLst/>
            <a:ahLst/>
            <a:cxnLst/>
            <a:rect r="r" b="b" t="t" l="l"/>
            <a:pathLst>
              <a:path h="3889764" w="7976479">
                <a:moveTo>
                  <a:pt x="0" y="0"/>
                </a:moveTo>
                <a:lnTo>
                  <a:pt x="7976479" y="0"/>
                </a:lnTo>
                <a:lnTo>
                  <a:pt x="7976479" y="3889765"/>
                </a:lnTo>
                <a:lnTo>
                  <a:pt x="0" y="3889765"/>
                </a:lnTo>
                <a:lnTo>
                  <a:pt x="0" y="0"/>
                </a:lnTo>
                <a:close/>
              </a:path>
            </a:pathLst>
          </a:custGeom>
          <a:blipFill>
            <a:blip r:embed="rId11"/>
            <a:stretch>
              <a:fillRect l="0" t="0" r="0" b="0"/>
            </a:stretch>
          </a:blipFill>
        </p:spPr>
      </p:sp>
      <p:sp>
        <p:nvSpPr>
          <p:cNvPr name="TextBox 13" id="13"/>
          <p:cNvSpPr txBox="true"/>
          <p:nvPr/>
        </p:nvSpPr>
        <p:spPr>
          <a:xfrm rot="0">
            <a:off x="527973" y="700405"/>
            <a:ext cx="17232054"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2: Speed Metrics &amp; Key Takeaways</a:t>
            </a:r>
          </a:p>
        </p:txBody>
      </p:sp>
      <p:sp>
        <p:nvSpPr>
          <p:cNvPr name="TextBox 14" id="14"/>
          <p:cNvSpPr txBox="true"/>
          <p:nvPr/>
        </p:nvSpPr>
        <p:spPr>
          <a:xfrm rot="0">
            <a:off x="10957378" y="1752387"/>
            <a:ext cx="627439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SPEED MAGNITUDE PATTERNS:</a:t>
            </a:r>
          </a:p>
        </p:txBody>
      </p:sp>
      <p:sp>
        <p:nvSpPr>
          <p:cNvPr name="TextBox 15" id="15"/>
          <p:cNvSpPr txBox="true"/>
          <p:nvPr/>
        </p:nvSpPr>
        <p:spPr>
          <a:xfrm rot="0">
            <a:off x="10957378" y="2376688"/>
            <a:ext cx="5856649" cy="1887855"/>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FFFFFF"/>
                </a:solidFill>
                <a:latin typeface="Cy Grotesk Key"/>
                <a:ea typeface="Cy Grotesk Key"/>
                <a:cs typeface="Cy Grotesk Key"/>
                <a:sym typeface="Cy Grotesk Key"/>
              </a:rPr>
              <a:t>Max, mean, variablility for speed are about the same.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Interpretation: dangerous trips are not about sustained high speed; they are more about how speed changes during the trip (surges, fluctuations).</a:t>
            </a:r>
          </a:p>
        </p:txBody>
      </p:sp>
      <p:sp>
        <p:nvSpPr>
          <p:cNvPr name="TextBox 16" id="16"/>
          <p:cNvSpPr txBox="true"/>
          <p:nvPr/>
        </p:nvSpPr>
        <p:spPr>
          <a:xfrm rot="0">
            <a:off x="10957378" y="4569343"/>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TRIP SAFETY</a:t>
            </a:r>
          </a:p>
        </p:txBody>
      </p:sp>
      <p:sp>
        <p:nvSpPr>
          <p:cNvPr name="TextBox 17" id="17"/>
          <p:cNvSpPr txBox="true"/>
          <p:nvPr/>
        </p:nvSpPr>
        <p:spPr>
          <a:xfrm rot="0">
            <a:off x="10957378" y="5102348"/>
            <a:ext cx="6274399" cy="471678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Ov</a:t>
            </a:r>
            <a:r>
              <a:rPr lang="en-US" sz="1800">
                <a:solidFill>
                  <a:srgbClr val="FFFFFF"/>
                </a:solidFill>
                <a:latin typeface="Cy Grotesk Key"/>
                <a:ea typeface="Cy Grotesk Key"/>
                <a:cs typeface="Cy Grotesk Key"/>
                <a:sym typeface="Cy Grotesk Key"/>
              </a:rPr>
              <a:t>erall Dashboard 2 key insights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Speed volatility &gt; raw speed</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Dangerous trips aren’t just “faster” — they involve bursts and fluctuations, not much difference in peak or average speeds.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Brand &amp; model year stay low-impact</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Across brands and age groups, the proportions of dangerous trips are fairly stable; driver behaviour dominates.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Risk level is operationally significant</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5,000 dangerous trips is a large absolute number, reinforcing the need for real-time safety monitoring, driver coaching, and potential cost reduction from fewer incidents.</a:t>
            </a:r>
          </a:p>
          <a:p>
            <a:pPr algn="l">
              <a:lnSpc>
                <a:spcPts val="252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963383" y="-158703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7079986" y="1515630"/>
            <a:ext cx="10437519" cy="9147384"/>
            <a:chOff x="0" y="0"/>
            <a:chExt cx="2748976" cy="2409188"/>
          </a:xfrm>
        </p:grpSpPr>
        <p:sp>
          <p:nvSpPr>
            <p:cNvPr name="Freeform 7" id="7"/>
            <p:cNvSpPr/>
            <p:nvPr/>
          </p:nvSpPr>
          <p:spPr>
            <a:xfrm flipH="false" flipV="false" rot="0">
              <a:off x="0" y="0"/>
              <a:ext cx="2748976" cy="2409188"/>
            </a:xfrm>
            <a:custGeom>
              <a:avLst/>
              <a:gdLst/>
              <a:ahLst/>
              <a:cxnLst/>
              <a:rect r="r" b="b" t="t" l="l"/>
              <a:pathLst>
                <a:path h="2409188" w="2748976">
                  <a:moveTo>
                    <a:pt x="37829" y="0"/>
                  </a:moveTo>
                  <a:lnTo>
                    <a:pt x="2711147" y="0"/>
                  </a:lnTo>
                  <a:cubicBezTo>
                    <a:pt x="2721180" y="0"/>
                    <a:pt x="2730802" y="3986"/>
                    <a:pt x="2737896" y="11080"/>
                  </a:cubicBezTo>
                  <a:cubicBezTo>
                    <a:pt x="2744991" y="18174"/>
                    <a:pt x="2748976" y="27796"/>
                    <a:pt x="2748976" y="37829"/>
                  </a:cubicBezTo>
                  <a:lnTo>
                    <a:pt x="2748976" y="2371359"/>
                  </a:lnTo>
                  <a:cubicBezTo>
                    <a:pt x="2748976" y="2381392"/>
                    <a:pt x="2744991" y="2391014"/>
                    <a:pt x="2737896" y="2398108"/>
                  </a:cubicBezTo>
                  <a:cubicBezTo>
                    <a:pt x="2730802" y="2405202"/>
                    <a:pt x="2721180" y="2409188"/>
                    <a:pt x="2711147" y="2409188"/>
                  </a:cubicBezTo>
                  <a:lnTo>
                    <a:pt x="37829" y="2409188"/>
                  </a:lnTo>
                  <a:cubicBezTo>
                    <a:pt x="27796" y="2409188"/>
                    <a:pt x="18174" y="2405202"/>
                    <a:pt x="11080" y="2398108"/>
                  </a:cubicBezTo>
                  <a:cubicBezTo>
                    <a:pt x="3986" y="2391014"/>
                    <a:pt x="0" y="2381392"/>
                    <a:pt x="0" y="2371359"/>
                  </a:cubicBezTo>
                  <a:lnTo>
                    <a:pt x="0" y="37829"/>
                  </a:lnTo>
                  <a:cubicBezTo>
                    <a:pt x="0" y="27796"/>
                    <a:pt x="3986" y="18174"/>
                    <a:pt x="11080" y="11080"/>
                  </a:cubicBezTo>
                  <a:cubicBezTo>
                    <a:pt x="18174" y="3986"/>
                    <a:pt x="27796" y="0"/>
                    <a:pt x="37829"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2748976"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6844848" y="1755166"/>
            <a:ext cx="470276" cy="470276"/>
          </a:xfrm>
          <a:custGeom>
            <a:avLst/>
            <a:gdLst/>
            <a:ahLst/>
            <a:cxnLst/>
            <a:rect r="r" b="b" t="t" l="l"/>
            <a:pathLst>
              <a:path h="470276" w="470276">
                <a:moveTo>
                  <a:pt x="0" y="0"/>
                </a:moveTo>
                <a:lnTo>
                  <a:pt x="470275" y="0"/>
                </a:lnTo>
                <a:lnTo>
                  <a:pt x="470275"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844848" y="4752980"/>
            <a:ext cx="470276" cy="470276"/>
          </a:xfrm>
          <a:custGeom>
            <a:avLst/>
            <a:gdLst/>
            <a:ahLst/>
            <a:cxnLst/>
            <a:rect r="r" b="b" t="t" l="l"/>
            <a:pathLst>
              <a:path h="470276" w="470276">
                <a:moveTo>
                  <a:pt x="0" y="0"/>
                </a:moveTo>
                <a:lnTo>
                  <a:pt x="470275" y="0"/>
                </a:lnTo>
                <a:lnTo>
                  <a:pt x="470275"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844848" y="7073562"/>
            <a:ext cx="470276" cy="470276"/>
          </a:xfrm>
          <a:custGeom>
            <a:avLst/>
            <a:gdLst/>
            <a:ahLst/>
            <a:cxnLst/>
            <a:rect r="r" b="b" t="t" l="l"/>
            <a:pathLst>
              <a:path h="470276" w="470276">
                <a:moveTo>
                  <a:pt x="0" y="0"/>
                </a:moveTo>
                <a:lnTo>
                  <a:pt x="470275" y="0"/>
                </a:lnTo>
                <a:lnTo>
                  <a:pt x="470275"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0" y="1974522"/>
            <a:ext cx="4723790" cy="4114800"/>
          </a:xfrm>
          <a:custGeom>
            <a:avLst/>
            <a:gdLst/>
            <a:ahLst/>
            <a:cxnLst/>
            <a:rect r="r" b="b" t="t" l="l"/>
            <a:pathLst>
              <a:path h="4114800" w="4723790">
                <a:moveTo>
                  <a:pt x="0" y="0"/>
                </a:moveTo>
                <a:lnTo>
                  <a:pt x="4723790" y="0"/>
                </a:lnTo>
                <a:lnTo>
                  <a:pt x="4723790" y="4114800"/>
                </a:lnTo>
                <a:lnTo>
                  <a:pt x="0" y="4114800"/>
                </a:lnTo>
                <a:lnTo>
                  <a:pt x="0" y="0"/>
                </a:lnTo>
                <a:close/>
              </a:path>
            </a:pathLst>
          </a:custGeom>
          <a:blipFill>
            <a:blip r:embed="rId10"/>
            <a:stretch>
              <a:fillRect l="0" t="0" r="0" b="0"/>
            </a:stretch>
          </a:blipFill>
        </p:spPr>
      </p:sp>
      <p:sp>
        <p:nvSpPr>
          <p:cNvPr name="Freeform 13" id="13"/>
          <p:cNvSpPr/>
          <p:nvPr/>
        </p:nvSpPr>
        <p:spPr>
          <a:xfrm flipH="false" flipV="false" rot="0">
            <a:off x="0" y="6239172"/>
            <a:ext cx="6444143" cy="4047828"/>
          </a:xfrm>
          <a:custGeom>
            <a:avLst/>
            <a:gdLst/>
            <a:ahLst/>
            <a:cxnLst/>
            <a:rect r="r" b="b" t="t" l="l"/>
            <a:pathLst>
              <a:path h="4047828" w="6444143">
                <a:moveTo>
                  <a:pt x="0" y="0"/>
                </a:moveTo>
                <a:lnTo>
                  <a:pt x="6444143" y="0"/>
                </a:lnTo>
                <a:lnTo>
                  <a:pt x="6444143" y="4047828"/>
                </a:lnTo>
                <a:lnTo>
                  <a:pt x="0" y="4047828"/>
                </a:lnTo>
                <a:lnTo>
                  <a:pt x="0" y="0"/>
                </a:lnTo>
                <a:close/>
              </a:path>
            </a:pathLst>
          </a:custGeom>
          <a:blipFill>
            <a:blip r:embed="rId11"/>
            <a:stretch>
              <a:fillRect l="0" t="0" r="0" b="0"/>
            </a:stretch>
          </a:blipFill>
        </p:spPr>
      </p:sp>
      <p:sp>
        <p:nvSpPr>
          <p:cNvPr name="TextBox 14" id="14"/>
          <p:cNvSpPr txBox="true"/>
          <p:nvPr/>
        </p:nvSpPr>
        <p:spPr>
          <a:xfrm rot="0">
            <a:off x="329452" y="700405"/>
            <a:ext cx="18042415" cy="751840"/>
          </a:xfrm>
          <a:prstGeom prst="rect">
            <a:avLst/>
          </a:prstGeom>
        </p:spPr>
        <p:txBody>
          <a:bodyPr anchor="t" rtlCol="false" tIns="0" lIns="0" bIns="0" rIns="0">
            <a:spAutoFit/>
          </a:bodyPr>
          <a:lstStyle/>
          <a:p>
            <a:pPr algn="ctr">
              <a:lnSpc>
                <a:spcPts val="5600"/>
              </a:lnSpc>
            </a:pPr>
            <a:r>
              <a:rPr lang="en-US" sz="5600">
                <a:solidFill>
                  <a:srgbClr val="FFFFFF"/>
                </a:solidFill>
                <a:latin typeface="Pattanakarn"/>
                <a:ea typeface="Pattanakarn"/>
                <a:cs typeface="Pattanakarn"/>
                <a:sym typeface="Pattanakarn"/>
              </a:rPr>
              <a:t>Dashboard 3: Sensor Baselines &amp; Speed</a:t>
            </a:r>
          </a:p>
        </p:txBody>
      </p:sp>
      <p:sp>
        <p:nvSpPr>
          <p:cNvPr name="TextBox 15" id="15"/>
          <p:cNvSpPr txBox="true"/>
          <p:nvPr/>
        </p:nvSpPr>
        <p:spPr>
          <a:xfrm rot="0">
            <a:off x="7831940" y="1725201"/>
            <a:ext cx="8882383"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OVERALL SENSOR BEHAVIOUR SUMMARY:</a:t>
            </a:r>
          </a:p>
        </p:txBody>
      </p:sp>
      <p:sp>
        <p:nvSpPr>
          <p:cNvPr name="TextBox 16" id="16"/>
          <p:cNvSpPr txBox="true"/>
          <p:nvPr/>
        </p:nvSpPr>
        <p:spPr>
          <a:xfrm rot="0">
            <a:off x="7831940" y="4723015"/>
            <a:ext cx="601200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90TH PERCENTILE SPEED:</a:t>
            </a:r>
          </a:p>
        </p:txBody>
      </p:sp>
      <p:sp>
        <p:nvSpPr>
          <p:cNvPr name="TextBox 17" id="17"/>
          <p:cNvSpPr txBox="true"/>
          <p:nvPr/>
        </p:nvSpPr>
        <p:spPr>
          <a:xfrm rot="0">
            <a:off x="7831940" y="5271432"/>
            <a:ext cx="9137448" cy="188785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a:t>
            </a:r>
            <a:r>
              <a:rPr lang="en-US" sz="1800">
                <a:solidFill>
                  <a:srgbClr val="FFFFFF"/>
                </a:solidFill>
                <a:latin typeface="Cy Grotesk Key"/>
                <a:ea typeface="Cy Grotesk Key"/>
                <a:cs typeface="Cy Grotesk Key"/>
                <a:sym typeface="Cy Grotesk Key"/>
              </a:rPr>
              <a:t>e trips: 17.2 m/s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Dangerous trips: 17.0 m/s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Safe trips actually have slightly higher high-end speeds.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Conclusion: top-end speed does not distinguish safe from dangerous behaviour – speeding alone is not the defining factor.</a:t>
            </a:r>
          </a:p>
          <a:p>
            <a:pPr algn="l">
              <a:lnSpc>
                <a:spcPts val="2520"/>
              </a:lnSpc>
              <a:spcBef>
                <a:spcPct val="0"/>
              </a:spcBef>
            </a:pPr>
          </a:p>
        </p:txBody>
      </p:sp>
      <p:sp>
        <p:nvSpPr>
          <p:cNvPr name="TextBox 18" id="18"/>
          <p:cNvSpPr txBox="true"/>
          <p:nvPr/>
        </p:nvSpPr>
        <p:spPr>
          <a:xfrm rot="0">
            <a:off x="7831940" y="7016412"/>
            <a:ext cx="7927573"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DIRECTIONAL ACCELERATION (X, Y, Z):</a:t>
            </a:r>
          </a:p>
        </p:txBody>
      </p:sp>
      <p:sp>
        <p:nvSpPr>
          <p:cNvPr name="TextBox 19" id="19"/>
          <p:cNvSpPr txBox="true"/>
          <p:nvPr/>
        </p:nvSpPr>
        <p:spPr>
          <a:xfrm rot="0">
            <a:off x="7831940" y="7556142"/>
            <a:ext cx="9137448" cy="251650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X-</a:t>
            </a:r>
            <a:r>
              <a:rPr lang="en-US" sz="1800">
                <a:solidFill>
                  <a:srgbClr val="FFFFFF"/>
                </a:solidFill>
                <a:latin typeface="Cy Grotesk Key"/>
                <a:ea typeface="Cy Grotesk Key"/>
                <a:cs typeface="Cy Grotesk Key"/>
                <a:sym typeface="Cy Grotesk Key"/>
              </a:rPr>
              <a:t>axis: 0.9 m/s² for both safe and dangerous.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Y-axis: around 4.6–4.7 m/s².</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Z-axis: 0.1 m/s².</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Patterns across all three axes are almost identical between safe and dangerous trips.</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This suggests unsafe behaviour is not strongly expressed through average directional acceleration differences.</a:t>
            </a:r>
          </a:p>
          <a:p>
            <a:pPr algn="l">
              <a:lnSpc>
                <a:spcPts val="2520"/>
              </a:lnSpc>
              <a:spcBef>
                <a:spcPct val="0"/>
              </a:spcBef>
            </a:pPr>
          </a:p>
        </p:txBody>
      </p:sp>
      <p:sp>
        <p:nvSpPr>
          <p:cNvPr name="TextBox 20" id="20"/>
          <p:cNvSpPr txBox="true"/>
          <p:nvPr/>
        </p:nvSpPr>
        <p:spPr>
          <a:xfrm rot="0">
            <a:off x="7831940" y="2263660"/>
            <a:ext cx="9137448" cy="2516505"/>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Average speed: 8.54 m/s → consistent with urban</a:t>
            </a:r>
            <a:r>
              <a:rPr lang="en-US" sz="1800">
                <a:solidFill>
                  <a:srgbClr val="FFFFFF"/>
                </a:solidFill>
                <a:latin typeface="Cy Grotesk Key"/>
                <a:ea typeface="Cy Grotesk Key"/>
                <a:cs typeface="Cy Grotesk Key"/>
                <a:sym typeface="Cy Grotesk Key"/>
              </a:rPr>
              <a:t> driving.</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Average acceleration magnitude: 9.87 m/s² → normal range, with occasional moderate acceleration.</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Median jerk: 0.217 → most trips have mild changes in acceleration.</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Average gyroscope magnitude: 0.127 rad/s → generally stable turning and steering.</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These metrics set the baseline for comparing safe vs dangerous trips.</a:t>
            </a:r>
          </a:p>
          <a:p>
            <a:pPr algn="l">
              <a:lnSpc>
                <a:spcPts val="252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02566" y="-3661094"/>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90007" y="7690055"/>
            <a:ext cx="7625234" cy="4528630"/>
          </a:xfrm>
          <a:custGeom>
            <a:avLst/>
            <a:gdLst/>
            <a:ahLst/>
            <a:cxnLst/>
            <a:rect r="r" b="b" t="t" l="l"/>
            <a:pathLst>
              <a:path h="4528630" w="7625234">
                <a:moveTo>
                  <a:pt x="0" y="0"/>
                </a:moveTo>
                <a:lnTo>
                  <a:pt x="7625233" y="0"/>
                </a:lnTo>
                <a:lnTo>
                  <a:pt x="7625233" y="4528630"/>
                </a:lnTo>
                <a:lnTo>
                  <a:pt x="0" y="4528630"/>
                </a:lnTo>
                <a:lnTo>
                  <a:pt x="0"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885703" y="-1789620"/>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6539745" y="1515630"/>
            <a:ext cx="10977760" cy="9147384"/>
            <a:chOff x="0" y="0"/>
            <a:chExt cx="2891262" cy="2409188"/>
          </a:xfrm>
        </p:grpSpPr>
        <p:sp>
          <p:nvSpPr>
            <p:cNvPr name="Freeform 7" id="7"/>
            <p:cNvSpPr/>
            <p:nvPr/>
          </p:nvSpPr>
          <p:spPr>
            <a:xfrm flipH="false" flipV="false" rot="0">
              <a:off x="0" y="0"/>
              <a:ext cx="2891262" cy="2409188"/>
            </a:xfrm>
            <a:custGeom>
              <a:avLst/>
              <a:gdLst/>
              <a:ahLst/>
              <a:cxnLst/>
              <a:rect r="r" b="b" t="t" l="l"/>
              <a:pathLst>
                <a:path h="2409188" w="2891262">
                  <a:moveTo>
                    <a:pt x="35967" y="0"/>
                  </a:moveTo>
                  <a:lnTo>
                    <a:pt x="2855295" y="0"/>
                  </a:lnTo>
                  <a:cubicBezTo>
                    <a:pt x="2875159" y="0"/>
                    <a:pt x="2891262" y="16103"/>
                    <a:pt x="2891262" y="35967"/>
                  </a:cubicBezTo>
                  <a:lnTo>
                    <a:pt x="2891262" y="2373221"/>
                  </a:lnTo>
                  <a:cubicBezTo>
                    <a:pt x="2891262" y="2393085"/>
                    <a:pt x="2875159" y="2409188"/>
                    <a:pt x="2855295" y="2409188"/>
                  </a:cubicBezTo>
                  <a:lnTo>
                    <a:pt x="35967" y="2409188"/>
                  </a:lnTo>
                  <a:cubicBezTo>
                    <a:pt x="16103" y="2409188"/>
                    <a:pt x="0" y="2393085"/>
                    <a:pt x="0" y="2373221"/>
                  </a:cubicBezTo>
                  <a:lnTo>
                    <a:pt x="0" y="35967"/>
                  </a:lnTo>
                  <a:cubicBezTo>
                    <a:pt x="0" y="16103"/>
                    <a:pt x="16103" y="0"/>
                    <a:pt x="35967" y="0"/>
                  </a:cubicBezTo>
                  <a:close/>
                </a:path>
              </a:pathLst>
            </a:custGeom>
            <a:solidFill>
              <a:srgbClr val="000000">
                <a:alpha val="0"/>
              </a:srgbClr>
            </a:solidFill>
            <a:ln w="28575" cap="rnd">
              <a:solidFill>
                <a:srgbClr val="FFFFFF">
                  <a:alpha val="25882"/>
                </a:srgbClr>
              </a:solidFill>
              <a:prstDash val="solid"/>
              <a:round/>
            </a:ln>
          </p:spPr>
        </p:sp>
        <p:sp>
          <p:nvSpPr>
            <p:cNvPr name="TextBox 8" id="8"/>
            <p:cNvSpPr txBox="true"/>
            <p:nvPr/>
          </p:nvSpPr>
          <p:spPr>
            <a:xfrm>
              <a:off x="0" y="47625"/>
              <a:ext cx="2891262" cy="2361563"/>
            </a:xfrm>
            <a:prstGeom prst="rect">
              <a:avLst/>
            </a:prstGeom>
          </p:spPr>
          <p:txBody>
            <a:bodyPr anchor="ctr" rtlCol="false" tIns="50800" lIns="50800" bIns="50800" rIns="50800"/>
            <a:lstStyle/>
            <a:p>
              <a:pPr algn="ctr">
                <a:lnSpc>
                  <a:spcPts val="2011"/>
                </a:lnSpc>
              </a:pPr>
            </a:p>
          </p:txBody>
        </p:sp>
      </p:grpSp>
      <p:sp>
        <p:nvSpPr>
          <p:cNvPr name="Freeform 9" id="9"/>
          <p:cNvSpPr/>
          <p:nvPr/>
        </p:nvSpPr>
        <p:spPr>
          <a:xfrm flipH="false" flipV="false" rot="0">
            <a:off x="6304607" y="1782351"/>
            <a:ext cx="470276" cy="470276"/>
          </a:xfrm>
          <a:custGeom>
            <a:avLst/>
            <a:gdLst/>
            <a:ahLst/>
            <a:cxnLst/>
            <a:rect r="r" b="b" t="t" l="l"/>
            <a:pathLst>
              <a:path h="470276" w="470276">
                <a:moveTo>
                  <a:pt x="0" y="0"/>
                </a:moveTo>
                <a:lnTo>
                  <a:pt x="470276" y="0"/>
                </a:lnTo>
                <a:lnTo>
                  <a:pt x="470276" y="470276"/>
                </a:lnTo>
                <a:lnTo>
                  <a:pt x="0" y="470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069469" y="5759142"/>
            <a:ext cx="470276" cy="470276"/>
          </a:xfrm>
          <a:custGeom>
            <a:avLst/>
            <a:gdLst/>
            <a:ahLst/>
            <a:cxnLst/>
            <a:rect r="r" b="b" t="t" l="l"/>
            <a:pathLst>
              <a:path h="470276" w="470276">
                <a:moveTo>
                  <a:pt x="0" y="0"/>
                </a:moveTo>
                <a:lnTo>
                  <a:pt x="470276" y="0"/>
                </a:lnTo>
                <a:lnTo>
                  <a:pt x="470276" y="470275"/>
                </a:lnTo>
                <a:lnTo>
                  <a:pt x="0" y="4702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14578" y="2105616"/>
            <a:ext cx="5654891" cy="3748568"/>
          </a:xfrm>
          <a:custGeom>
            <a:avLst/>
            <a:gdLst/>
            <a:ahLst/>
            <a:cxnLst/>
            <a:rect r="r" b="b" t="t" l="l"/>
            <a:pathLst>
              <a:path h="3748568" w="5654891">
                <a:moveTo>
                  <a:pt x="0" y="0"/>
                </a:moveTo>
                <a:lnTo>
                  <a:pt x="5654891" y="0"/>
                </a:lnTo>
                <a:lnTo>
                  <a:pt x="5654891" y="3748568"/>
                </a:lnTo>
                <a:lnTo>
                  <a:pt x="0" y="3748568"/>
                </a:lnTo>
                <a:lnTo>
                  <a:pt x="0" y="0"/>
                </a:lnTo>
                <a:close/>
              </a:path>
            </a:pathLst>
          </a:custGeom>
          <a:blipFill>
            <a:blip r:embed="rId10"/>
            <a:stretch>
              <a:fillRect l="0" t="0" r="0" b="0"/>
            </a:stretch>
          </a:blipFill>
        </p:spPr>
      </p:sp>
      <p:sp>
        <p:nvSpPr>
          <p:cNvPr name="Freeform 12" id="12"/>
          <p:cNvSpPr/>
          <p:nvPr/>
        </p:nvSpPr>
        <p:spPr>
          <a:xfrm flipH="false" flipV="false" rot="0">
            <a:off x="884402" y="6418820"/>
            <a:ext cx="4715243" cy="3152879"/>
          </a:xfrm>
          <a:custGeom>
            <a:avLst/>
            <a:gdLst/>
            <a:ahLst/>
            <a:cxnLst/>
            <a:rect r="r" b="b" t="t" l="l"/>
            <a:pathLst>
              <a:path h="3152879" w="4715243">
                <a:moveTo>
                  <a:pt x="0" y="0"/>
                </a:moveTo>
                <a:lnTo>
                  <a:pt x="4715243" y="0"/>
                </a:lnTo>
                <a:lnTo>
                  <a:pt x="4715243" y="3152879"/>
                </a:lnTo>
                <a:lnTo>
                  <a:pt x="0" y="3152879"/>
                </a:lnTo>
                <a:lnTo>
                  <a:pt x="0" y="0"/>
                </a:lnTo>
                <a:close/>
              </a:path>
            </a:pathLst>
          </a:custGeom>
          <a:blipFill>
            <a:blip r:embed="rId11"/>
            <a:stretch>
              <a:fillRect l="0" t="0" r="0" b="0"/>
            </a:stretch>
          </a:blipFill>
        </p:spPr>
      </p:sp>
      <p:sp>
        <p:nvSpPr>
          <p:cNvPr name="TextBox 13" id="13"/>
          <p:cNvSpPr txBox="true"/>
          <p:nvPr/>
        </p:nvSpPr>
        <p:spPr>
          <a:xfrm rot="0">
            <a:off x="1200157" y="464820"/>
            <a:ext cx="16301004" cy="563880"/>
          </a:xfrm>
          <a:prstGeom prst="rect">
            <a:avLst/>
          </a:prstGeom>
        </p:spPr>
        <p:txBody>
          <a:bodyPr anchor="t" rtlCol="false" tIns="0" lIns="0" bIns="0" rIns="0">
            <a:spAutoFit/>
          </a:bodyPr>
          <a:lstStyle/>
          <a:p>
            <a:pPr algn="ctr">
              <a:lnSpc>
                <a:spcPts val="4200"/>
              </a:lnSpc>
            </a:pPr>
            <a:r>
              <a:rPr lang="en-US" sz="4200">
                <a:solidFill>
                  <a:srgbClr val="FFFFFF"/>
                </a:solidFill>
                <a:latin typeface="Pattanakarn"/>
                <a:ea typeface="Pattanakarn"/>
                <a:cs typeface="Pattanakarn"/>
                <a:sym typeface="Pattanakarn"/>
              </a:rPr>
              <a:t>Dashboard 3: Jerk, Magnitude, Gyro &amp; Key Takeaways</a:t>
            </a:r>
          </a:p>
        </p:txBody>
      </p:sp>
      <p:sp>
        <p:nvSpPr>
          <p:cNvPr name="TextBox 14" id="14"/>
          <p:cNvSpPr txBox="true"/>
          <p:nvPr/>
        </p:nvSpPr>
        <p:spPr>
          <a:xfrm rot="0">
            <a:off x="7369776" y="1779572"/>
            <a:ext cx="8645684"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ACCELERATION MAGNITUDE PATTERNS:</a:t>
            </a:r>
          </a:p>
        </p:txBody>
      </p:sp>
      <p:sp>
        <p:nvSpPr>
          <p:cNvPr name="TextBox 15" id="15"/>
          <p:cNvSpPr txBox="true"/>
          <p:nvPr/>
        </p:nvSpPr>
        <p:spPr>
          <a:xfrm rot="0">
            <a:off x="7369776" y="2394704"/>
            <a:ext cx="7679962" cy="345948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Cy Grotesk Key"/>
                <a:ea typeface="Cy Grotesk Key"/>
                <a:cs typeface="Cy Grotesk Key"/>
                <a:sym typeface="Cy Grotesk Key"/>
              </a:rPr>
              <a:t>Acceleration</a:t>
            </a:r>
            <a:r>
              <a:rPr lang="en-US" sz="1800">
                <a:solidFill>
                  <a:srgbClr val="FFFFFF"/>
                </a:solidFill>
                <a:latin typeface="Cy Grotesk Key"/>
                <a:ea typeface="Cy Grotesk Key"/>
                <a:cs typeface="Cy Grotesk Key"/>
                <a:sym typeface="Cy Grotesk Key"/>
              </a:rPr>
              <a:t> magnitude patterns</a:t>
            </a:r>
          </a:p>
          <a:p>
            <a:pPr algn="l">
              <a:lnSpc>
                <a:spcPts val="2520"/>
              </a:lnSpc>
              <a:spcBef>
                <a:spcPct val="0"/>
              </a:spcBef>
            </a:pPr>
            <a:r>
              <a:rPr lang="en-US" sz="1800">
                <a:solidFill>
                  <a:srgbClr val="FFFFFF"/>
                </a:solidFill>
                <a:latin typeface="Cy Grotesk Key"/>
                <a:ea typeface="Cy Grotesk Key"/>
                <a:cs typeface="Cy Grotesk Key"/>
                <a:sym typeface="Cy Grotesk Key"/>
              </a:rPr>
              <a:t>Mean acceleration magnitude: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a:t>
            </a:r>
            <a:r>
              <a:rPr lang="en-US" sz="1800">
                <a:solidFill>
                  <a:srgbClr val="FFFFFF"/>
                </a:solidFill>
                <a:latin typeface="Cy Grotesk Key"/>
                <a:ea typeface="Cy Grotesk Key"/>
                <a:cs typeface="Cy Grotesk Key"/>
                <a:sym typeface="Cy Grotesk Key"/>
              </a:rPr>
              <a:t>e: 148K</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Dangerous: 49K</a:t>
            </a:r>
          </a:p>
          <a:p>
            <a:pPr algn="l">
              <a:lnSpc>
                <a:spcPts val="2520"/>
              </a:lnSpc>
              <a:spcBef>
                <a:spcPct val="0"/>
              </a:spcBef>
            </a:pPr>
            <a:r>
              <a:rPr lang="en-US" sz="1800">
                <a:solidFill>
                  <a:srgbClr val="FFFFFF"/>
                </a:solidFill>
                <a:latin typeface="Cy Grotesk Key"/>
                <a:ea typeface="Cy Grotesk Key"/>
                <a:cs typeface="Cy Grotesk Key"/>
                <a:sym typeface="Cy Grotesk Key"/>
              </a:rPr>
              <a:t>Std dev:</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Safe: ~11K</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Dangerous: ~4K</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Safe trips show higher totals mainly because they cover more movement overall; the key difference is in consistency rather than peak intensity.</a:t>
            </a:r>
          </a:p>
          <a:p>
            <a:pPr algn="l">
              <a:lnSpc>
                <a:spcPts val="2520"/>
              </a:lnSpc>
              <a:spcBef>
                <a:spcPct val="0"/>
              </a:spcBef>
            </a:pPr>
          </a:p>
        </p:txBody>
      </p:sp>
      <p:sp>
        <p:nvSpPr>
          <p:cNvPr name="TextBox 16" id="16"/>
          <p:cNvSpPr txBox="true"/>
          <p:nvPr/>
        </p:nvSpPr>
        <p:spPr>
          <a:xfrm rot="0">
            <a:off x="6774883" y="5701992"/>
            <a:ext cx="5856649" cy="473055"/>
          </a:xfrm>
          <a:prstGeom prst="rect">
            <a:avLst/>
          </a:prstGeom>
        </p:spPr>
        <p:txBody>
          <a:bodyPr anchor="t" rtlCol="false" tIns="0" lIns="0" bIns="0" rIns="0">
            <a:spAutoFit/>
          </a:bodyPr>
          <a:lstStyle/>
          <a:p>
            <a:pPr algn="l">
              <a:lnSpc>
                <a:spcPts val="3851"/>
              </a:lnSpc>
              <a:spcBef>
                <a:spcPct val="0"/>
              </a:spcBef>
            </a:pPr>
            <a:r>
              <a:rPr lang="en-US" sz="2750">
                <a:solidFill>
                  <a:srgbClr val="44A5FF"/>
                </a:solidFill>
                <a:latin typeface="Cy Grotesk Key"/>
                <a:ea typeface="Cy Grotesk Key"/>
                <a:cs typeface="Cy Grotesk Key"/>
                <a:sym typeface="Cy Grotesk Key"/>
              </a:rPr>
              <a:t>KEY INSIGHTS:</a:t>
            </a:r>
          </a:p>
        </p:txBody>
      </p:sp>
      <p:sp>
        <p:nvSpPr>
          <p:cNvPr name="TextBox 17" id="17"/>
          <p:cNvSpPr txBox="true"/>
          <p:nvPr/>
        </p:nvSpPr>
        <p:spPr>
          <a:xfrm rot="0">
            <a:off x="6656172" y="6198870"/>
            <a:ext cx="10744906" cy="4088130"/>
          </a:xfrm>
          <a:prstGeom prst="rect">
            <a:avLst/>
          </a:prstGeom>
        </p:spPr>
        <p:txBody>
          <a:bodyPr anchor="t" rtlCol="false" tIns="0" lIns="0" bIns="0" rIns="0">
            <a:spAutoFit/>
          </a:bodyPr>
          <a:lstStyle/>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Dang</a:t>
            </a:r>
            <a:r>
              <a:rPr lang="en-US" sz="1800">
                <a:solidFill>
                  <a:srgbClr val="FFFFFF"/>
                </a:solidFill>
                <a:latin typeface="Cy Grotesk Key"/>
                <a:ea typeface="Cy Grotesk Key"/>
                <a:cs typeface="Cy Grotesk Key"/>
                <a:sym typeface="Cy Grotesk Key"/>
              </a:rPr>
              <a:t>er ≠ higher speed</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Speeds (mean and p90) are very similar between safe and dangerous trips; dangerous driving is not about being constantly faster.</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Instability is subtle and localised</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Jerk and gyroscope show tiny but consistent differences at higher percentiles, pointing to brief moments of harsher braking, acceleration or turning.</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Whole-trip </a:t>
            </a:r>
            <a:r>
              <a:rPr lang="en-US" sz="1800">
                <a:solidFill>
                  <a:srgbClr val="FFFFFF"/>
                </a:solidFill>
                <a:latin typeface="Cy Grotesk Key"/>
                <a:ea typeface="Cy Grotesk Key"/>
                <a:cs typeface="Cy Grotesk Key"/>
                <a:sym typeface="Cy Grotesk Key"/>
              </a:rPr>
              <a:t>averages look similar</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Directional acceleration and turning degrees are almost identical, so unsafe behaviour is likely tied to short micro-events, not to the overall average profile.</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Safe trips still look smoother overall</a:t>
            </a:r>
          </a:p>
          <a:p>
            <a:pPr algn="l" marL="388620" indent="-194310" lvl="1">
              <a:lnSpc>
                <a:spcPts val="2520"/>
              </a:lnSpc>
              <a:spcBef>
                <a:spcPct val="0"/>
              </a:spcBef>
              <a:buFont typeface="Arial"/>
              <a:buChar char="•"/>
            </a:pPr>
            <a:r>
              <a:rPr lang="en-US" sz="1800">
                <a:solidFill>
                  <a:srgbClr val="FFFFFF"/>
                </a:solidFill>
                <a:latin typeface="Cy Grotesk Key"/>
                <a:ea typeface="Cy Grotesk Key"/>
                <a:cs typeface="Cy Grotesk Key"/>
                <a:sym typeface="Cy Grotesk Key"/>
              </a:rPr>
              <a:t>When looking at acceleration magnitude and variability across the whole trip, safe trips tend to present more predictable, stable patterns, aligning with controlled driving.</a:t>
            </a:r>
          </a:p>
          <a:p>
            <a:pPr algn="l">
              <a:lnSpc>
                <a:spcPts val="2520"/>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55571" y="-4402297"/>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615177" y="-39817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7690055"/>
            <a:ext cx="18701319" cy="4258146"/>
          </a:xfrm>
          <a:custGeom>
            <a:avLst/>
            <a:gdLst/>
            <a:ahLst/>
            <a:cxnLst/>
            <a:rect r="r" b="b" t="t" l="l"/>
            <a:pathLst>
              <a:path h="4258146" w="18701319">
                <a:moveTo>
                  <a:pt x="0" y="0"/>
                </a:moveTo>
                <a:lnTo>
                  <a:pt x="18701319" y="0"/>
                </a:lnTo>
                <a:lnTo>
                  <a:pt x="18701319" y="4258146"/>
                </a:lnTo>
                <a:lnTo>
                  <a:pt x="0" y="42581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175331" y="545569"/>
            <a:ext cx="7937339" cy="1637756"/>
          </a:xfrm>
          <a:prstGeom prst="rect">
            <a:avLst/>
          </a:prstGeom>
        </p:spPr>
        <p:txBody>
          <a:bodyPr anchor="t" rtlCol="false" tIns="0" lIns="0" bIns="0" rIns="0">
            <a:spAutoFit/>
          </a:bodyPr>
          <a:lstStyle/>
          <a:p>
            <a:pPr algn="ctr">
              <a:lnSpc>
                <a:spcPts val="13475"/>
              </a:lnSpc>
              <a:spcBef>
                <a:spcPct val="0"/>
              </a:spcBef>
            </a:pPr>
            <a:r>
              <a:rPr lang="en-US" sz="9625">
                <a:solidFill>
                  <a:srgbClr val="FFFFFF"/>
                </a:solidFill>
                <a:latin typeface="Pattanakarn"/>
                <a:ea typeface="Pattanakarn"/>
                <a:cs typeface="Pattanakarn"/>
                <a:sym typeface="Pattanakarn"/>
              </a:rPr>
              <a:t>Conclusion:</a:t>
            </a:r>
          </a:p>
        </p:txBody>
      </p:sp>
      <p:sp>
        <p:nvSpPr>
          <p:cNvPr name="TextBox 9" id="9"/>
          <p:cNvSpPr txBox="true"/>
          <p:nvPr/>
        </p:nvSpPr>
        <p:spPr>
          <a:xfrm rot="0">
            <a:off x="1257329" y="2514655"/>
            <a:ext cx="16001971" cy="7413830"/>
          </a:xfrm>
          <a:prstGeom prst="rect">
            <a:avLst/>
          </a:prstGeom>
        </p:spPr>
        <p:txBody>
          <a:bodyPr anchor="t" rtlCol="false" tIns="0" lIns="0" bIns="0" rIns="0">
            <a:spAutoFit/>
          </a:bodyPr>
          <a:lstStyle/>
          <a:p>
            <a:pPr algn="ctr">
              <a:lnSpc>
                <a:spcPts val="2963"/>
              </a:lnSpc>
              <a:spcBef>
                <a:spcPct val="0"/>
              </a:spcBef>
            </a:pPr>
            <a:r>
              <a:rPr lang="en-US" sz="2116">
                <a:solidFill>
                  <a:srgbClr val="FFFFFF"/>
                </a:solidFill>
                <a:latin typeface="Cy Grotesk Key"/>
                <a:ea typeface="Cy Grotesk Key"/>
                <a:cs typeface="Cy Grotesk Key"/>
                <a:sym typeface="Cy Grotesk Key"/>
              </a:rPr>
              <a:t>Across all user roles, the Sprint 1 solution delivers a cohesive safety analytics platform that turns raw driver, sensor, and safety-label data into actionable insights.</a:t>
            </a:r>
          </a:p>
          <a:p>
            <a:pPr algn="ctr">
              <a:lnSpc>
                <a:spcPts val="2963"/>
              </a:lnSpc>
              <a:spcBef>
                <a:spcPct val="0"/>
              </a:spcBef>
            </a:pPr>
          </a:p>
          <a:p>
            <a:pPr algn="ctr">
              <a:lnSpc>
                <a:spcPts val="2963"/>
              </a:lnSpc>
              <a:spcBef>
                <a:spcPct val="0"/>
              </a:spcBef>
            </a:pPr>
            <a:r>
              <a:rPr lang="en-US" sz="2116">
                <a:solidFill>
                  <a:srgbClr val="FFFFFF"/>
                </a:solidFill>
                <a:latin typeface="Cy Grotesk Key"/>
                <a:ea typeface="Cy Grotesk Key"/>
                <a:cs typeface="Cy Grotesk Key"/>
                <a:sym typeface="Cy Grotesk Key"/>
              </a:rPr>
              <a:t>For </a:t>
            </a:r>
            <a:r>
              <a:rPr lang="en-US" b="true" sz="2116">
                <a:solidFill>
                  <a:srgbClr val="FFFFFF"/>
                </a:solidFill>
                <a:latin typeface="Cy Grotesk Key Bold"/>
                <a:ea typeface="Cy Grotesk Key Bold"/>
                <a:cs typeface="Cy Grotesk Key Bold"/>
                <a:sym typeface="Cy Grotesk Key Bold"/>
              </a:rPr>
              <a:t>managers</a:t>
            </a:r>
            <a:r>
              <a:rPr lang="en-US" sz="2116">
                <a:solidFill>
                  <a:srgbClr val="FFFFFF"/>
                </a:solidFill>
                <a:latin typeface="Cy Grotesk Key"/>
                <a:ea typeface="Cy Grotesk Key"/>
                <a:cs typeface="Cy Grotesk Key"/>
                <a:sym typeface="Cy Grotesk Key"/>
              </a:rPr>
              <a:t>, the dashboards provide intuitive views of overall safety trends, risky drivers, and aggregated statistics by region and time of day, enabling them to monitor safety KPIs, spot high-risk patterns, and plan targeted safety campaigns and platform features. For </a:t>
            </a:r>
            <a:r>
              <a:rPr lang="en-US" b="true" sz="2116">
                <a:solidFill>
                  <a:srgbClr val="FFFFFF"/>
                </a:solidFill>
                <a:latin typeface="Cy Grotesk Key Bold"/>
                <a:ea typeface="Cy Grotesk Key Bold"/>
                <a:cs typeface="Cy Grotesk Key Bold"/>
                <a:sym typeface="Cy Grotesk Key Bold"/>
              </a:rPr>
              <a:t>operations supervisors</a:t>
            </a:r>
            <a:r>
              <a:rPr lang="en-US" sz="2116">
                <a:solidFill>
                  <a:srgbClr val="FFFFFF"/>
                </a:solidFill>
                <a:latin typeface="Cy Grotesk Key"/>
                <a:ea typeface="Cy Grotesk Key"/>
                <a:cs typeface="Cy Grotesk Key"/>
                <a:sym typeface="Cy Grotesk Key"/>
              </a:rPr>
              <a:t>, trip-level linkage between drivers, safety labels, and sensor features makes it possible to trace unsafe behaviour back to specific trips and drivers, compare sensor patterns across journeys, and generate performance reports to guide feedback and retraining.</a:t>
            </a:r>
          </a:p>
          <a:p>
            <a:pPr algn="ctr">
              <a:lnSpc>
                <a:spcPts val="2963"/>
              </a:lnSpc>
              <a:spcBef>
                <a:spcPct val="0"/>
              </a:spcBef>
            </a:pPr>
          </a:p>
          <a:p>
            <a:pPr algn="ctr">
              <a:lnSpc>
                <a:spcPts val="2963"/>
              </a:lnSpc>
              <a:spcBef>
                <a:spcPct val="0"/>
              </a:spcBef>
            </a:pPr>
            <a:r>
              <a:rPr lang="en-US" sz="2116">
                <a:solidFill>
                  <a:srgbClr val="FFFFFF"/>
                </a:solidFill>
                <a:latin typeface="Cy Grotesk Key"/>
                <a:ea typeface="Cy Grotesk Key"/>
                <a:cs typeface="Cy Grotesk Key"/>
                <a:sym typeface="Cy Grotesk Key"/>
              </a:rPr>
              <a:t>Behind the scenes, </a:t>
            </a:r>
            <a:r>
              <a:rPr lang="en-US" b="true" sz="2116">
                <a:solidFill>
                  <a:srgbClr val="FFFFFF"/>
                </a:solidFill>
                <a:latin typeface="Cy Grotesk Key Bold"/>
                <a:ea typeface="Cy Grotesk Key Bold"/>
                <a:cs typeface="Cy Grotesk Key Bold"/>
                <a:sym typeface="Cy Grotesk Key Bold"/>
              </a:rPr>
              <a:t>data scientists</a:t>
            </a:r>
            <a:r>
              <a:rPr lang="en-US" sz="2116">
                <a:solidFill>
                  <a:srgbClr val="FFFFFF"/>
                </a:solidFill>
                <a:latin typeface="Cy Grotesk Key"/>
                <a:ea typeface="Cy Grotesk Key"/>
                <a:cs typeface="Cy Grotesk Key"/>
                <a:sym typeface="Cy Grotesk Key"/>
              </a:rPr>
              <a:t> benefit from a normalised SQL schema and automated ETL pipelines that reliably feed clean, consistent data into Jupyter, supporting thorough EDA and feature selection for Sprint 2’s predictive models. </a:t>
            </a:r>
            <a:r>
              <a:rPr lang="en-US" b="true" sz="2116">
                <a:solidFill>
                  <a:srgbClr val="FFFFFF"/>
                </a:solidFill>
                <a:latin typeface="Cy Grotesk Key Bold"/>
                <a:ea typeface="Cy Grotesk Key Bold"/>
                <a:cs typeface="Cy Grotesk Key Bold"/>
                <a:sym typeface="Cy Grotesk Key Bold"/>
              </a:rPr>
              <a:t>Software developers</a:t>
            </a:r>
            <a:r>
              <a:rPr lang="en-US" sz="2116">
                <a:solidFill>
                  <a:srgbClr val="FFFFFF"/>
                </a:solidFill>
                <a:latin typeface="Cy Grotesk Key"/>
                <a:ea typeface="Cy Grotesk Key"/>
                <a:cs typeface="Cy Grotesk Key"/>
                <a:sym typeface="Cy Grotesk Key"/>
              </a:rPr>
              <a:t> gain a modular, reusable ETL codebase and well-structured SQL query scripts that make the analytics layer easy to extend, integrate, and productionise in future AI applications. Finally, </a:t>
            </a:r>
            <a:r>
              <a:rPr lang="en-US" b="true" sz="2116">
                <a:solidFill>
                  <a:srgbClr val="FFFFFF"/>
                </a:solidFill>
                <a:latin typeface="Cy Grotesk Key Bold"/>
                <a:ea typeface="Cy Grotesk Key Bold"/>
                <a:cs typeface="Cy Grotesk Key Bold"/>
                <a:sym typeface="Cy Grotesk Key Bold"/>
              </a:rPr>
              <a:t>safety analysts</a:t>
            </a:r>
            <a:r>
              <a:rPr lang="en-US" sz="2116">
                <a:solidFill>
                  <a:srgbClr val="FFFFFF"/>
                </a:solidFill>
                <a:latin typeface="Cy Grotesk Key"/>
                <a:ea typeface="Cy Grotesk Key"/>
                <a:cs typeface="Cy Grotesk Key"/>
                <a:sym typeface="Cy Grotesk Key"/>
              </a:rPr>
              <a:t> can visualise correlations between sensor metrics and trip outcomes, helping them interpret behavioural risk factors and translate technical patterns into concrete safety recommendations.</a:t>
            </a:r>
          </a:p>
          <a:p>
            <a:pPr algn="ctr">
              <a:lnSpc>
                <a:spcPts val="2963"/>
              </a:lnSpc>
              <a:spcBef>
                <a:spcPct val="0"/>
              </a:spcBef>
            </a:pPr>
          </a:p>
          <a:p>
            <a:pPr algn="ctr">
              <a:lnSpc>
                <a:spcPts val="2963"/>
              </a:lnSpc>
              <a:spcBef>
                <a:spcPct val="0"/>
              </a:spcBef>
            </a:pPr>
            <a:r>
              <a:rPr lang="en-US" sz="2116">
                <a:solidFill>
                  <a:srgbClr val="FFFFFF"/>
                </a:solidFill>
                <a:latin typeface="Cy Grotesk Key"/>
                <a:ea typeface="Cy Grotesk Key"/>
                <a:cs typeface="Cy Grotesk Key"/>
                <a:sym typeface="Cy Grotesk Key"/>
              </a:rPr>
              <a:t>Together, these outcomes show that Sprint 1 not only satisfies the current user stories across business, operations, data, and engineering roles, but also lays a solid, production-oriented foundation for building real-time, AI-driven fraud and safety detection in Sprint 2.</a:t>
            </a:r>
          </a:p>
          <a:p>
            <a:pPr algn="ctr">
              <a:lnSpc>
                <a:spcPts val="2963"/>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4153C"/>
        </a:solidFill>
      </p:bgPr>
    </p:bg>
    <p:spTree>
      <p:nvGrpSpPr>
        <p:cNvPr id="1" name=""/>
        <p:cNvGrpSpPr/>
        <p:nvPr/>
      </p:nvGrpSpPr>
      <p:grpSpPr>
        <a:xfrm>
          <a:off x="0" y="0"/>
          <a:ext cx="0" cy="0"/>
          <a:chOff x="0" y="0"/>
          <a:chExt cx="0" cy="0"/>
        </a:xfrm>
      </p:grpSpPr>
      <p:sp>
        <p:nvSpPr>
          <p:cNvPr name="Freeform 2" id="2"/>
          <p:cNvSpPr/>
          <p:nvPr/>
        </p:nvSpPr>
        <p:spPr>
          <a:xfrm flipH="false" flipV="false" rot="0">
            <a:off x="14655571" y="-4402297"/>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05362" y="-1058517"/>
            <a:ext cx="7139284" cy="9379588"/>
          </a:xfrm>
          <a:custGeom>
            <a:avLst/>
            <a:gdLst/>
            <a:ahLst/>
            <a:cxnLst/>
            <a:rect r="r" b="b" t="t" l="l"/>
            <a:pathLst>
              <a:path h="9379588" w="7139284">
                <a:moveTo>
                  <a:pt x="0" y="0"/>
                </a:moveTo>
                <a:lnTo>
                  <a:pt x="7139284" y="0"/>
                </a:lnTo>
                <a:lnTo>
                  <a:pt x="7139284" y="9379588"/>
                </a:lnTo>
                <a:lnTo>
                  <a:pt x="0" y="937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15177" y="-3981722"/>
            <a:ext cx="8804594" cy="8804594"/>
          </a:xfrm>
          <a:custGeom>
            <a:avLst/>
            <a:gdLst/>
            <a:ahLst/>
            <a:cxnLst/>
            <a:rect r="r" b="b" t="t" l="l"/>
            <a:pathLst>
              <a:path h="8804594" w="8804594">
                <a:moveTo>
                  <a:pt x="0" y="0"/>
                </a:moveTo>
                <a:lnTo>
                  <a:pt x="8804594" y="0"/>
                </a:lnTo>
                <a:lnTo>
                  <a:pt x="8804594" y="8804594"/>
                </a:lnTo>
                <a:lnTo>
                  <a:pt x="0" y="8804594"/>
                </a:lnTo>
                <a:lnTo>
                  <a:pt x="0"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2312313" y="-771314"/>
            <a:ext cx="7139284" cy="9379588"/>
          </a:xfrm>
          <a:custGeom>
            <a:avLst/>
            <a:gdLst/>
            <a:ahLst/>
            <a:cxnLst/>
            <a:rect r="r" b="b" t="t" l="l"/>
            <a:pathLst>
              <a:path h="9379588" w="7139284">
                <a:moveTo>
                  <a:pt x="7139284" y="0"/>
                </a:moveTo>
                <a:lnTo>
                  <a:pt x="0" y="0"/>
                </a:lnTo>
                <a:lnTo>
                  <a:pt x="0" y="9379589"/>
                </a:lnTo>
                <a:lnTo>
                  <a:pt x="7139284" y="9379589"/>
                </a:lnTo>
                <a:lnTo>
                  <a:pt x="713928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58104" y="3631277"/>
            <a:ext cx="17771791" cy="5925733"/>
          </a:xfrm>
          <a:custGeom>
            <a:avLst/>
            <a:gdLst/>
            <a:ahLst/>
            <a:cxnLst/>
            <a:rect r="r" b="b" t="t" l="l"/>
            <a:pathLst>
              <a:path h="5925733" w="17771791">
                <a:moveTo>
                  <a:pt x="0" y="0"/>
                </a:moveTo>
                <a:lnTo>
                  <a:pt x="17771792" y="0"/>
                </a:lnTo>
                <a:lnTo>
                  <a:pt x="17771792" y="5925733"/>
                </a:lnTo>
                <a:lnTo>
                  <a:pt x="0" y="5925733"/>
                </a:lnTo>
                <a:lnTo>
                  <a:pt x="0" y="0"/>
                </a:lnTo>
                <a:close/>
              </a:path>
            </a:pathLst>
          </a:custGeom>
          <a:blipFill>
            <a:blip r:embed="rId6">
              <a:alphaModFix amt="20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7745969"/>
            <a:ext cx="18701319" cy="4258146"/>
          </a:xfrm>
          <a:custGeom>
            <a:avLst/>
            <a:gdLst/>
            <a:ahLst/>
            <a:cxnLst/>
            <a:rect r="r" b="b" t="t" l="l"/>
            <a:pathLst>
              <a:path h="4258146" w="18701319">
                <a:moveTo>
                  <a:pt x="0" y="0"/>
                </a:moveTo>
                <a:lnTo>
                  <a:pt x="18701319" y="0"/>
                </a:lnTo>
                <a:lnTo>
                  <a:pt x="18701319" y="4258147"/>
                </a:lnTo>
                <a:lnTo>
                  <a:pt x="0" y="4258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105581" y="1509810"/>
            <a:ext cx="8076837" cy="4998316"/>
          </a:xfrm>
          <a:prstGeom prst="rect">
            <a:avLst/>
          </a:prstGeom>
        </p:spPr>
        <p:txBody>
          <a:bodyPr anchor="t" rtlCol="false" tIns="0" lIns="0" bIns="0" rIns="0">
            <a:spAutoFit/>
          </a:bodyPr>
          <a:lstStyle/>
          <a:p>
            <a:pPr algn="ctr">
              <a:lnSpc>
                <a:spcPts val="19529"/>
              </a:lnSpc>
            </a:pPr>
            <a:r>
              <a:rPr lang="en-US" sz="17916">
                <a:solidFill>
                  <a:srgbClr val="FFFFFF"/>
                </a:solidFill>
                <a:latin typeface="Pattanakarn"/>
                <a:ea typeface="Pattanakarn"/>
                <a:cs typeface="Pattanakarn"/>
                <a:sym typeface="Pattanakarn"/>
              </a:rPr>
              <a:t>Thank You!</a:t>
            </a:r>
          </a:p>
        </p:txBody>
      </p:sp>
      <p:sp>
        <p:nvSpPr>
          <p:cNvPr name="Freeform 9" id="9"/>
          <p:cNvSpPr/>
          <p:nvPr/>
        </p:nvSpPr>
        <p:spPr>
          <a:xfrm flipH="false" flipV="false" rot="595271">
            <a:off x="-70109" y="3632696"/>
            <a:ext cx="6158533" cy="6503479"/>
          </a:xfrm>
          <a:custGeom>
            <a:avLst/>
            <a:gdLst/>
            <a:ahLst/>
            <a:cxnLst/>
            <a:rect r="r" b="b" t="t" l="l"/>
            <a:pathLst>
              <a:path h="6503479" w="6158533">
                <a:moveTo>
                  <a:pt x="0" y="0"/>
                </a:moveTo>
                <a:lnTo>
                  <a:pt x="6158534" y="0"/>
                </a:lnTo>
                <a:lnTo>
                  <a:pt x="6158534" y="6503479"/>
                </a:lnTo>
                <a:lnTo>
                  <a:pt x="0" y="65034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422762">
            <a:off x="11965371" y="3486011"/>
            <a:ext cx="6405919" cy="6764721"/>
          </a:xfrm>
          <a:custGeom>
            <a:avLst/>
            <a:gdLst/>
            <a:ahLst/>
            <a:cxnLst/>
            <a:rect r="r" b="b" t="t" l="l"/>
            <a:pathLst>
              <a:path h="6764721" w="6405919">
                <a:moveTo>
                  <a:pt x="6405919" y="0"/>
                </a:moveTo>
                <a:lnTo>
                  <a:pt x="0" y="0"/>
                </a:lnTo>
                <a:lnTo>
                  <a:pt x="0" y="6764721"/>
                </a:lnTo>
                <a:lnTo>
                  <a:pt x="6405919" y="6764721"/>
                </a:lnTo>
                <a:lnTo>
                  <a:pt x="640591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DAG6W6KBB98</dc:identifier>
  <dcterms:modified xsi:type="dcterms:W3CDTF">2011-08-01T06:04:30Z</dcterms:modified>
  <cp:revision>1</cp:revision>
  <dc:title>PAI CA1 Presentation</dc:title>
</cp:coreProperties>
</file>